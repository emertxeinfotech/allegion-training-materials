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Linux Fundamentals —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 err="1">
                <a:solidFill>
                  <a:srgbClr val="FFFFFF"/>
                </a:solidFill>
                <a:latin typeface="Calibri"/>
              </a:rPr>
              <a:t>systemd</a:t>
            </a:r>
            <a:r>
              <a:rPr sz="1800" dirty="0">
                <a:solidFill>
                  <a:srgbClr val="FFFFFF"/>
                </a:solidFill>
                <a:latin typeface="Calibri"/>
              </a:rPr>
              <a:t>, networking, troubleshooting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1. 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systemd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overview — units and targets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2. 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journald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— the structured logging system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3.  Networking essentials — interfaces, routes, DNS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4.  SSH hygiene for embedded devices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5.  Core troubleshooting muscle: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dmesg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journalctl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strace</a:t>
            </a:r>
            <a:endParaRPr sz="2000" b="0" i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 err="1">
                <a:latin typeface="Calibri"/>
              </a:rPr>
              <a:t>systemd</a:t>
            </a:r>
            <a:r>
              <a:rPr sz="3200" b="1" dirty="0">
                <a:latin typeface="Calibri"/>
              </a:rPr>
              <a:t> — The Init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Manages everything that runs on the device after the kernel hands 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897880" cy="331885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Unit types you'll meet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333333"/>
                </a:solidFill>
                <a:latin typeface="Calibri"/>
              </a:rPr>
              <a:t>.service — a long-running process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333333"/>
                </a:solidFill>
                <a:latin typeface="Calibri"/>
              </a:rPr>
              <a:t>.socket — listen on a socket; start service on connect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333333"/>
                </a:solidFill>
                <a:latin typeface="Calibri"/>
              </a:rPr>
              <a:t>.timer — replaces </a:t>
            </a:r>
            <a:r>
              <a:rPr b="0" i="0" dirty="0" err="1">
                <a:solidFill>
                  <a:srgbClr val="333333"/>
                </a:solidFill>
                <a:latin typeface="Calibri"/>
              </a:rPr>
              <a:t>cron</a:t>
            </a:r>
            <a:r>
              <a:rPr b="0" i="0" dirty="0">
                <a:solidFill>
                  <a:srgbClr val="333333"/>
                </a:solidFill>
                <a:latin typeface="Calibri"/>
              </a:rPr>
              <a:t> for scheduled jobs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333333"/>
                </a:solidFill>
                <a:latin typeface="Calibri"/>
              </a:rPr>
              <a:t>.target — group of units (like a </a:t>
            </a:r>
            <a:r>
              <a:rPr b="0" i="0" dirty="0" err="1">
                <a:solidFill>
                  <a:srgbClr val="333333"/>
                </a:solidFill>
                <a:latin typeface="Calibri"/>
              </a:rPr>
              <a:t>runlevel</a:t>
            </a:r>
            <a:r>
              <a:rPr b="0" i="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spcAft>
                <a:spcPts val="1000"/>
              </a:spcAft>
            </a:pPr>
            <a:r>
              <a:rPr b="0" i="0" dirty="0">
                <a:solidFill>
                  <a:srgbClr val="333333"/>
                </a:solidFill>
                <a:latin typeface="Calibri"/>
              </a:rPr>
              <a:t>.mount — filesystem mount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Targets in order of boot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onsolas"/>
              </a:rPr>
              <a:t>local-</a:t>
            </a:r>
            <a:r>
              <a:rPr sz="1600" b="0" i="0" dirty="0" err="1">
                <a:solidFill>
                  <a:srgbClr val="333333"/>
                </a:solidFill>
                <a:latin typeface="Consolas"/>
              </a:rPr>
              <a:t>fs.target</a:t>
            </a:r>
            <a:r>
              <a:rPr sz="1600" b="0" i="0" dirty="0">
                <a:solidFill>
                  <a:srgbClr val="333333"/>
                </a:solidFill>
                <a:latin typeface="Consolas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Consolas"/>
              </a:rPr>
              <a:t>sysinit.target</a:t>
            </a:r>
            <a:r>
              <a:rPr sz="1600" b="0" i="0" dirty="0">
                <a:solidFill>
                  <a:srgbClr val="333333"/>
                </a:solidFill>
                <a:latin typeface="Consolas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Consolas"/>
              </a:rPr>
              <a:t>basic.target</a:t>
            </a:r>
            <a:r>
              <a:rPr sz="1600" b="0" i="0" dirty="0">
                <a:solidFill>
                  <a:srgbClr val="333333"/>
                </a:solidFill>
                <a:latin typeface="Consolas"/>
              </a:rPr>
              <a:t> → multi-</a:t>
            </a:r>
            <a:r>
              <a:rPr sz="1600" b="0" i="0" dirty="0" err="1">
                <a:solidFill>
                  <a:srgbClr val="333333"/>
                </a:solidFill>
                <a:latin typeface="Consolas"/>
              </a:rPr>
              <a:t>user.target</a:t>
            </a:r>
            <a:endParaRPr sz="1600" b="0" i="0" dirty="0">
              <a:solidFill>
                <a:srgbClr val="333333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onsolas"/>
              </a:rPr>
              <a:t>→ </a:t>
            </a:r>
            <a:r>
              <a:rPr sz="1600" b="0" i="0" dirty="0" err="1">
                <a:solidFill>
                  <a:srgbClr val="333333"/>
                </a:solidFill>
                <a:latin typeface="Consolas"/>
              </a:rPr>
              <a:t>graphical.target</a:t>
            </a:r>
            <a:r>
              <a:rPr sz="1600" b="0" i="0" dirty="0">
                <a:solidFill>
                  <a:srgbClr val="333333"/>
                </a:solidFill>
                <a:latin typeface="Consolas"/>
              </a:rPr>
              <a:t> (if a GUI is installed)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783080"/>
            <a:ext cx="4617720" cy="4389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12280" y="1783080"/>
            <a:ext cx="73152" cy="438912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343400" cy="3785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Common commands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status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start myapp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enable myapp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daemon-reload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What's failed?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--failed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List all units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list-units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list-unit-files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Default target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systemctl get-default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 err="1">
                <a:latin typeface="Calibri"/>
              </a:rPr>
              <a:t>journald</a:t>
            </a:r>
            <a:r>
              <a:rPr sz="3200" b="1" dirty="0">
                <a:latin typeface="Calibri"/>
              </a:rPr>
              <a:t> — Structured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All logs flow through one system, indexed by metadata, not just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36576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29320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Browse logs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                         # all, reverse-chronological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-f                       # follow (like tail -f)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-u nginx                 # one service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-b                       # current boot only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-b -1                    # previous boot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--since '1 hour ago'    # time filter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_PID=1234                # by PID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journalctl -p err                   # by priority (err and above)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Persistent storage (often disabled by default on embedded)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sudo mkdir -p /var/log/journal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sudo systemctl restart systemd-journald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77840"/>
            <a:ext cx="1051560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300" b="1">
                <a:solidFill>
                  <a:srgbClr val="663399"/>
                </a:solidFill>
                <a:latin typeface="Calibri"/>
              </a:rPr>
              <a:t>On embedded: persistent journald means logs survive reboots. Worth enabling for debugging field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Networking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The four things you need to debug 90% of network problems.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1148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Interfaces &amp;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299056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333333"/>
                </a:solidFill>
                <a:latin typeface="Calibri"/>
              </a:rPr>
              <a:t>List interfaces</a:t>
            </a:r>
          </a:p>
          <a:p>
            <a:pPr>
              <a:spcAft>
                <a:spcPts val="1000"/>
              </a:spcAft>
            </a:pPr>
            <a:r>
              <a:rPr b="0" i="0" dirty="0" err="1">
                <a:solidFill>
                  <a:srgbClr val="333333"/>
                </a:solidFill>
                <a:latin typeface="Consolas"/>
              </a:rPr>
              <a:t>ip</a:t>
            </a:r>
            <a:r>
              <a:rPr b="0" i="0" dirty="0">
                <a:solidFill>
                  <a:srgbClr val="333333"/>
                </a:solidFill>
                <a:latin typeface="Consolas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Consolas"/>
              </a:rPr>
              <a:t>addr</a:t>
            </a:r>
            <a:r>
              <a:rPr b="0" i="0" dirty="0">
                <a:solidFill>
                  <a:srgbClr val="333333"/>
                </a:solidFill>
                <a:latin typeface="Consolas"/>
              </a:rPr>
              <a:t> show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333333"/>
                </a:solidFill>
                <a:latin typeface="Calibri"/>
              </a:rPr>
              <a:t>List routes</a:t>
            </a:r>
          </a:p>
          <a:p>
            <a:pPr>
              <a:spcAft>
                <a:spcPts val="1000"/>
              </a:spcAft>
            </a:pPr>
            <a:r>
              <a:rPr b="0" i="0" dirty="0" err="1">
                <a:solidFill>
                  <a:srgbClr val="333333"/>
                </a:solidFill>
                <a:latin typeface="Consolas"/>
              </a:rPr>
              <a:t>ip</a:t>
            </a:r>
            <a:r>
              <a:rPr b="0" i="0" dirty="0">
                <a:solidFill>
                  <a:srgbClr val="333333"/>
                </a:solidFill>
                <a:latin typeface="Consolas"/>
              </a:rPr>
              <a:t> route show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333333"/>
                </a:solidFill>
                <a:latin typeface="Calibri"/>
              </a:rPr>
              <a:t>Bring up an interface</a:t>
            </a:r>
          </a:p>
          <a:p>
            <a:pPr>
              <a:spcAft>
                <a:spcPts val="1000"/>
              </a:spcAft>
            </a:pPr>
            <a:r>
              <a:rPr b="0" i="0" dirty="0" err="1">
                <a:solidFill>
                  <a:srgbClr val="333333"/>
                </a:solidFill>
                <a:latin typeface="Consolas"/>
              </a:rPr>
              <a:t>sudo</a:t>
            </a:r>
            <a:r>
              <a:rPr b="0" i="0" dirty="0">
                <a:solidFill>
                  <a:srgbClr val="333333"/>
                </a:solidFill>
                <a:latin typeface="Consolas"/>
              </a:rPr>
              <a:t> </a:t>
            </a:r>
            <a:r>
              <a:rPr b="0" i="0" dirty="0" err="1">
                <a:solidFill>
                  <a:srgbClr val="333333"/>
                </a:solidFill>
                <a:latin typeface="Consolas"/>
              </a:rPr>
              <a:t>ip</a:t>
            </a:r>
            <a:r>
              <a:rPr b="0" i="0" dirty="0">
                <a:solidFill>
                  <a:srgbClr val="333333"/>
                </a:solidFill>
                <a:latin typeface="Consolas"/>
              </a:rPr>
              <a:t> link set eth0 up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333333"/>
                </a:solidFill>
                <a:latin typeface="Calibri"/>
              </a:rPr>
              <a:t>Set static IP (temp)</a:t>
            </a:r>
          </a:p>
          <a:p>
            <a:pPr>
              <a:spcAft>
                <a:spcPts val="400"/>
              </a:spcAft>
            </a:pPr>
            <a:r>
              <a:rPr sz="1400" b="0" i="0" dirty="0" err="1">
                <a:solidFill>
                  <a:srgbClr val="333333"/>
                </a:solidFill>
                <a:latin typeface="Consolas"/>
              </a:rPr>
              <a:t>sudo</a:t>
            </a:r>
            <a:r>
              <a:rPr sz="1400" b="0" i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onsolas"/>
              </a:rPr>
              <a:t>ip</a:t>
            </a:r>
            <a:r>
              <a:rPr sz="1400" b="0" i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onsolas"/>
              </a:rPr>
              <a:t>addr</a:t>
            </a:r>
            <a:r>
              <a:rPr sz="1400" b="0" i="0" dirty="0">
                <a:solidFill>
                  <a:srgbClr val="333333"/>
                </a:solidFill>
                <a:latin typeface="Consolas"/>
              </a:rPr>
              <a:t> add 192.168.1.10/24 dev eth0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1148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DNS &amp;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27751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333333"/>
                </a:solidFill>
                <a:latin typeface="Calibri"/>
              </a:rPr>
              <a:t>Resolve a name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getent hosts google.com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333333"/>
                </a:solidFill>
                <a:latin typeface="Calibri"/>
              </a:rPr>
              <a:t>Test reachability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ping -c 2 8.8.8.8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333333"/>
                </a:solidFill>
                <a:latin typeface="Calibri"/>
              </a:rPr>
              <a:t>DNS config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cat /etc/resolv.conf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333333"/>
                </a:solidFill>
                <a:latin typeface="Calibri"/>
              </a:rPr>
              <a:t>Trace path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traceroute google.com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03504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On Yocto images: networking is typically managed by systemd-networkd or NetworkManager. Know which one your image 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SSH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If your device exposes SSH, do these from day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672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Disable password authentication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In /etc/ssh/sshd_config:  PasswordAuthentication no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Disable root SSH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PermitRootLogin no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Use SSH keys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ssh-keygen -t ed25519     # on the host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ssh-copy-id user@device   # deploy to device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Change the default port (defense in depth, not security)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Port 2022      # cuts 90% of bot probes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Limit who can SSH in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AllowUsers admin diag     # exact users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Core Troubleshooting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When something doesn't work, these tell you why.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dmesg</a:t>
            </a:r>
            <a:endParaRPr sz="2000" b="1" dirty="0">
              <a:solidFill>
                <a:srgbClr val="FFFFFF"/>
              </a:solidFill>
              <a:latin typeface="Calibri"/>
            </a:endParaRPr>
          </a:p>
          <a:p>
            <a:r>
              <a:rPr sz="1400" i="1" dirty="0">
                <a:solidFill>
                  <a:srgbClr val="FFFFFF"/>
                </a:solidFill>
                <a:latin typeface="Calibri"/>
              </a:rPr>
              <a:t>Kernel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07776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Boot-time and driver messages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Common uses: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Why didn't device X bind?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Was the disk attached?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Did something OOM?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Commands: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  dmesg -T (with timestamps)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  dmesg | grep -i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journalctl</a:t>
            </a:r>
            <a:endParaRPr sz="2000" b="1" dirty="0">
              <a:solidFill>
                <a:srgbClr val="FFFFFF"/>
              </a:solidFill>
              <a:latin typeface="Calibri"/>
            </a:endParaRPr>
          </a:p>
          <a:p>
            <a:r>
              <a:rPr sz="1400" i="1" dirty="0" err="1">
                <a:solidFill>
                  <a:srgbClr val="FFFFFF"/>
                </a:solidFill>
                <a:latin typeface="Calibri"/>
              </a:rPr>
              <a:t>Userspace</a:t>
            </a:r>
            <a:r>
              <a:rPr sz="1400" i="1" dirty="0">
                <a:solidFill>
                  <a:srgbClr val="FFFFFF"/>
                </a:solidFill>
                <a:latin typeface="Calibri"/>
              </a:rPr>
              <a:t> logs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07776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All services' logs in one place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Common uses: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Service won't start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Auth failures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Application errors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Commands: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  journalctl -u myapp -f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  journalctl --since=today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strace</a:t>
            </a:r>
            <a:endParaRPr sz="2000" b="1" dirty="0">
              <a:solidFill>
                <a:srgbClr val="FFFFFF"/>
              </a:solidFill>
              <a:latin typeface="Calibri"/>
            </a:endParaRPr>
          </a:p>
          <a:p>
            <a:r>
              <a:rPr sz="1400" i="1" dirty="0" err="1">
                <a:solidFill>
                  <a:srgbClr val="FFFFFF"/>
                </a:solidFill>
                <a:latin typeface="Calibri"/>
              </a:rPr>
              <a:t>Syscall</a:t>
            </a:r>
            <a:r>
              <a:rPr sz="1400" i="1" dirty="0">
                <a:solidFill>
                  <a:srgbClr val="FFFFFF"/>
                </a:solidFill>
                <a:latin typeface="Calibri"/>
              </a:rPr>
              <a:t> 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3239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Watch what a process asks the kernel for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Common uses: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Process hanging — where?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Missing file or library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Permission errors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Commands: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 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strace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-p &lt;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pid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&gt;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 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strace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-e open ./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myapp</a:t>
            </a:r>
            <a:endParaRPr sz="16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617220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600" b="1" dirty="0">
                <a:solidFill>
                  <a:srgbClr val="663399"/>
                </a:solidFill>
                <a:latin typeface="Calibri"/>
              </a:rPr>
              <a:t>Default debugging sequence: </a:t>
            </a:r>
            <a:r>
              <a:rPr sz="1600" b="1" dirty="0" err="1">
                <a:solidFill>
                  <a:srgbClr val="663399"/>
                </a:solidFill>
                <a:latin typeface="Calibri"/>
              </a:rPr>
              <a:t>dmesg</a:t>
            </a:r>
            <a:r>
              <a:rPr sz="1600" b="1" dirty="0">
                <a:solidFill>
                  <a:srgbClr val="663399"/>
                </a:solidFill>
                <a:latin typeface="Calibri"/>
              </a:rPr>
              <a:t> first (hardware?), </a:t>
            </a:r>
            <a:r>
              <a:rPr sz="1600" b="1" dirty="0" err="1">
                <a:solidFill>
                  <a:srgbClr val="663399"/>
                </a:solidFill>
                <a:latin typeface="Calibri"/>
              </a:rPr>
              <a:t>journalctl</a:t>
            </a:r>
            <a:r>
              <a:rPr sz="1600" b="1" dirty="0">
                <a:solidFill>
                  <a:srgbClr val="663399"/>
                </a:solidFill>
                <a:latin typeface="Calibri"/>
              </a:rPr>
              <a:t> second (service?), </a:t>
            </a:r>
            <a:r>
              <a:rPr sz="1600" b="1" dirty="0" err="1">
                <a:solidFill>
                  <a:srgbClr val="663399"/>
                </a:solidFill>
                <a:latin typeface="Calibri"/>
              </a:rPr>
              <a:t>strace</a:t>
            </a:r>
            <a:r>
              <a:rPr sz="1600" b="1" dirty="0">
                <a:solidFill>
                  <a:srgbClr val="663399"/>
                </a:solidFill>
                <a:latin typeface="Calibri"/>
              </a:rPr>
              <a:t> third (specific failure?).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systemd manages everything on the running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Units, targets, dependencies — learn systemctl and journalctl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journald is structured and queryable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Filter by service, time, priority, PID — much better than grepping text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Networking debug needs ip, ping, getent, traceroute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Master these four and most field issues are findable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SSH hygiene is non-negotiable on shipped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Keys only, no root, allowed users, awareness of exposed 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 dirty="0" err="1">
                <a:solidFill>
                  <a:srgbClr val="663399"/>
                </a:solidFill>
                <a:latin typeface="Calibri"/>
              </a:rPr>
              <a:t>dmesg</a:t>
            </a:r>
            <a:r>
              <a:rPr sz="1600" b="1" i="0" dirty="0">
                <a:solidFill>
                  <a:srgbClr val="663399"/>
                </a:solidFill>
                <a:latin typeface="Calibri"/>
              </a:rPr>
              <a:t> → </a:t>
            </a:r>
            <a:r>
              <a:rPr sz="1600" b="1" i="0" dirty="0" err="1">
                <a:solidFill>
                  <a:srgbClr val="663399"/>
                </a:solidFill>
                <a:latin typeface="Calibri"/>
              </a:rPr>
              <a:t>journalctl</a:t>
            </a:r>
            <a:r>
              <a:rPr sz="1600" b="1" i="0" dirty="0">
                <a:solidFill>
                  <a:srgbClr val="663399"/>
                </a:solidFill>
                <a:latin typeface="Calibri"/>
              </a:rPr>
              <a:t> → </a:t>
            </a:r>
            <a:r>
              <a:rPr sz="1600" b="1" i="0" dirty="0" err="1">
                <a:solidFill>
                  <a:srgbClr val="663399"/>
                </a:solidFill>
                <a:latin typeface="Calibri"/>
              </a:rPr>
              <a:t>strace</a:t>
            </a:r>
            <a:r>
              <a:rPr sz="1600" b="1" i="0" dirty="0">
                <a:solidFill>
                  <a:srgbClr val="663399"/>
                </a:solidFill>
                <a:latin typeface="Calibri"/>
              </a:rPr>
              <a:t> is the troubleshooting ladder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Hardware first, services second,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syscalls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third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6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Yocto</a:t>
            </a:r>
            <a:r>
              <a:rPr sz="1600" dirty="0">
                <a:solidFill>
                  <a:srgbClr val="333333"/>
                </a:solidFill>
                <a:latin typeface="Calibri"/>
              </a:rPr>
              <a:t> Architecture  — Poky,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BitBake</a:t>
            </a:r>
            <a:r>
              <a:rPr sz="1600" dirty="0">
                <a:solidFill>
                  <a:srgbClr val="333333"/>
                </a:solidFill>
                <a:latin typeface="Calibri"/>
              </a:rPr>
              <a:t>, layers, recipes, </a:t>
            </a:r>
            <a:r>
              <a:rPr sz="1600" dirty="0" err="1">
                <a:solidFill>
                  <a:srgbClr val="333333"/>
                </a:solidFill>
                <a:latin typeface="Calibri"/>
              </a:rPr>
              <a:t>sstate</a:t>
            </a:r>
            <a:endParaRPr sz="16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795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Linux Fundamentals — Part 2</vt:lpstr>
      <vt:lpstr>Session Agenda</vt:lpstr>
      <vt:lpstr>systemd — The Init System</vt:lpstr>
      <vt:lpstr>journald — Structured Logs</vt:lpstr>
      <vt:lpstr>Networking Essentials</vt:lpstr>
      <vt:lpstr>SSH Hygiene</vt:lpstr>
      <vt:lpstr>Core Troubleshooting Tools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687</cp:revision>
  <dcterms:created xsi:type="dcterms:W3CDTF">2013-11-03T09:32:00Z</dcterms:created>
  <dcterms:modified xsi:type="dcterms:W3CDTF">2026-05-28T04:57:22Z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