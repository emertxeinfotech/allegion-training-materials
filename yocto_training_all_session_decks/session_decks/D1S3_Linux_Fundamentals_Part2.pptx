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132" autoAdjust="0"/>
    <p:restoredTop sz="94049" autoAdjust="0"/>
  </p:normalViewPr>
  <p:slideViewPr>
    <p:cSldViewPr snapToGrid="0" snapToObjects="1" showGuides="1">
      <p:cViewPr varScale="1">
        <p:scale>
          <a:sx n="70" d="100"/>
          <a:sy n="70" d="100"/>
        </p:scale>
        <p:origin x="456" y="48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gs" Target="tags/tag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systemd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a rethinking of 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userspace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initialization and service management built on modern kernel features (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cgroups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namespaces, sockets, capabilities). It provides parallel boot, formal dependencies, service supervision, declarative configuration, socket activation, timers, resource control, and sandboxing through a consistent unit-file model. Dependencies (Wants=, Requires=) and ordering (After=, Before=) are independent concepts; conflating them is the #1 mistake. Unit files live in three places with override semantics; use 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systemctl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 to override safely.</a:t>
            </a:r>
          </a:p>
          <a:p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Skills compound: every Linux system you touch in 2026 and beyond will be a 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systemd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system. </a:t>
            </a:r>
            <a:r>
              <a:rPr lang="en-IN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Fluent reading of unit files, correct writing of new ones, and audit across dependency / security / resource dimensions are foundational.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E6CBB4-399F-4023-9E47-0B63A6AB6E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journald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a binary, indexed, structured, tamper-evident, integrated logging system that captures everything (kernel, syslog, services, applications) into one 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queryable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store with trustworthy metadata. The key shifts from syslog: structured fields not prose, trustworthy provenance (underscore-prefixed fields) not sender-claimed metadata, indexed queries not grep, boot-by-boot navigation not lost-on-reboot, cryptographic sealing not unverifiable text files.</a:t>
            </a:r>
          </a:p>
          <a:p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 your career: investigating production incidents, doing forensic analysis, building observability pipelines, debugging embedded devices in the field, demonstrating compliance — all dramatically easier with 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journald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mastery. The skill compounds: once you can query </a:t>
            </a:r>
            <a:r>
              <a:rPr lang="en-IN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journald</a:t>
            </a:r>
            <a:r>
              <a:rPr lang="en-I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fluently, every other observability tool that builds on it makes more sense.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E6CBB4-399F-4023-9E47-0B63A6AB6E1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8825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Linux Fundamentals </a:t>
            </a:r>
            <a:r>
              <a:rPr lang="en-IN" sz="4400" b="1" dirty="0">
                <a:solidFill>
                  <a:srgbClr val="FFFFFF"/>
                </a:solidFill>
                <a:latin typeface="Calibri"/>
              </a:rPr>
              <a:t>-</a:t>
            </a:r>
            <a:r>
              <a:rPr sz="4400" b="1" dirty="0">
                <a:solidFill>
                  <a:srgbClr val="FFFFFF"/>
                </a:solidFill>
                <a:latin typeface="Calibri"/>
              </a:rPr>
              <a:t> Part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 err="1">
                <a:solidFill>
                  <a:srgbClr val="FFFFFF"/>
                </a:solidFill>
                <a:latin typeface="Calibri"/>
              </a:rPr>
              <a:t>systemd</a:t>
            </a:r>
            <a:r>
              <a:rPr sz="1800" dirty="0">
                <a:solidFill>
                  <a:srgbClr val="FFFFFF"/>
                </a:solidFill>
                <a:latin typeface="Calibri"/>
              </a:rPr>
              <a:t>, networking, troubleshooting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9389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1. 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systemd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overview </a:t>
            </a:r>
            <a:r>
              <a:rPr lang="en-IN" sz="20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units and targets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2. 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journald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</a:t>
            </a:r>
            <a:r>
              <a:rPr lang="en-IN" sz="20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the structured logging system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3.  Networking essentials </a:t>
            </a:r>
            <a:r>
              <a:rPr lang="en-IN" sz="2000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 interfaces, routes, DNS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4.  SSH hygiene for embedded devices</a:t>
            </a:r>
          </a:p>
          <a:p>
            <a:pPr>
              <a:spcAft>
                <a:spcPts val="600"/>
              </a:spcAft>
            </a:pPr>
            <a:r>
              <a:rPr sz="2000" b="0" i="0" dirty="0">
                <a:solidFill>
                  <a:srgbClr val="333333"/>
                </a:solidFill>
                <a:latin typeface="Calibri"/>
              </a:rPr>
              <a:t>5.  Core troubleshooting muscle: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dmesg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journalctl</a:t>
            </a:r>
            <a:r>
              <a:rPr sz="2000" b="0" i="0" dirty="0">
                <a:solidFill>
                  <a:srgbClr val="333333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333333"/>
                </a:solidFill>
                <a:latin typeface="Calibri"/>
              </a:rPr>
              <a:t>strace</a:t>
            </a:r>
            <a:endParaRPr sz="2000" b="0" i="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systemd</a:t>
            </a:r>
            <a:r>
              <a:rPr sz="3200" b="1" dirty="0">
                <a:latin typeface="Calibri"/>
              </a:rPr>
              <a:t>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The Init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Manages everything that runs on the device after the kernel hands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5897880" cy="331885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Unit types you'll meet</a:t>
            </a:r>
          </a:p>
          <a:p>
            <a:pPr>
              <a:spcAft>
                <a:spcPts val="400"/>
              </a:spcAft>
            </a:pPr>
            <a:r>
              <a:rPr b="0" i="0" dirty="0">
                <a:solidFill>
                  <a:srgbClr val="333333"/>
                </a:solidFill>
                <a:latin typeface="Calibri"/>
              </a:rPr>
              <a:t>.service </a:t>
            </a:r>
            <a:r>
              <a:rPr lang="en-IN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 a long-running process</a:t>
            </a:r>
          </a:p>
          <a:p>
            <a:pPr>
              <a:spcAft>
                <a:spcPts val="400"/>
              </a:spcAft>
            </a:pPr>
            <a:r>
              <a:rPr b="0" i="0" dirty="0">
                <a:solidFill>
                  <a:srgbClr val="333333"/>
                </a:solidFill>
                <a:latin typeface="Calibri"/>
              </a:rPr>
              <a:t>.socket </a:t>
            </a:r>
            <a:r>
              <a:rPr lang="en-IN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 listen on a socket; start service on connect</a:t>
            </a:r>
          </a:p>
          <a:p>
            <a:pPr>
              <a:spcAft>
                <a:spcPts val="400"/>
              </a:spcAft>
            </a:pPr>
            <a:r>
              <a:rPr b="0" i="0" dirty="0">
                <a:solidFill>
                  <a:srgbClr val="333333"/>
                </a:solidFill>
                <a:latin typeface="Calibri"/>
              </a:rPr>
              <a:t>.timer </a:t>
            </a:r>
            <a:r>
              <a:rPr lang="en-IN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 replaces </a:t>
            </a:r>
            <a:r>
              <a:rPr b="0" i="0" dirty="0" err="1">
                <a:solidFill>
                  <a:srgbClr val="333333"/>
                </a:solidFill>
                <a:latin typeface="Calibri"/>
              </a:rPr>
              <a:t>cron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 for scheduled jobs</a:t>
            </a:r>
          </a:p>
          <a:p>
            <a:pPr>
              <a:spcAft>
                <a:spcPts val="400"/>
              </a:spcAft>
            </a:pPr>
            <a:r>
              <a:rPr b="0" i="0" dirty="0">
                <a:solidFill>
                  <a:srgbClr val="333333"/>
                </a:solidFill>
                <a:latin typeface="Calibri"/>
              </a:rPr>
              <a:t>.target </a:t>
            </a:r>
            <a:r>
              <a:rPr lang="en-IN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 group of units (like a </a:t>
            </a:r>
            <a:r>
              <a:rPr b="0" i="0" dirty="0" err="1">
                <a:solidFill>
                  <a:srgbClr val="333333"/>
                </a:solidFill>
                <a:latin typeface="Calibri"/>
              </a:rPr>
              <a:t>runlevel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)</a:t>
            </a:r>
          </a:p>
          <a:p>
            <a:pPr>
              <a:spcAft>
                <a:spcPts val="1000"/>
              </a:spcAft>
            </a:pPr>
            <a:r>
              <a:rPr b="0" i="0" dirty="0">
                <a:solidFill>
                  <a:srgbClr val="333333"/>
                </a:solidFill>
                <a:latin typeface="Calibri"/>
              </a:rPr>
              <a:t>.mount </a:t>
            </a:r>
            <a:r>
              <a:rPr lang="en-IN" b="0" i="0" dirty="0">
                <a:solidFill>
                  <a:srgbClr val="333333"/>
                </a:solidFill>
                <a:latin typeface="Calibri"/>
              </a:rPr>
              <a:t>:</a:t>
            </a:r>
            <a:r>
              <a:rPr b="0" i="0" dirty="0">
                <a:solidFill>
                  <a:srgbClr val="333333"/>
                </a:solidFill>
                <a:latin typeface="Calibri"/>
              </a:rPr>
              <a:t> filesystem mount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Targets in order of boot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onsolas"/>
              </a:rPr>
              <a:t>local-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fs.target</a:t>
            </a:r>
            <a:r>
              <a:rPr sz="1600" b="0" i="0" dirty="0">
                <a:solidFill>
                  <a:srgbClr val="333333"/>
                </a:solidFill>
                <a:latin typeface="Consolas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sysinit.target</a:t>
            </a:r>
            <a:r>
              <a:rPr sz="1600" b="0" i="0" dirty="0">
                <a:solidFill>
                  <a:srgbClr val="333333"/>
                </a:solidFill>
                <a:latin typeface="Consolas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basic.target</a:t>
            </a:r>
            <a:r>
              <a:rPr sz="1600" b="0" i="0" dirty="0">
                <a:solidFill>
                  <a:srgbClr val="333333"/>
                </a:solidFill>
                <a:latin typeface="Consolas"/>
              </a:rPr>
              <a:t> → multi-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user.target</a:t>
            </a:r>
            <a:endParaRPr sz="1600" b="0" i="0" dirty="0">
              <a:solidFill>
                <a:srgbClr val="333333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onsolas"/>
              </a:rPr>
              <a:t>→ 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graphical.target</a:t>
            </a:r>
            <a:r>
              <a:rPr sz="1600" b="0" i="0" dirty="0">
                <a:solidFill>
                  <a:srgbClr val="333333"/>
                </a:solidFill>
                <a:latin typeface="Consolas"/>
              </a:rPr>
              <a:t> (if a GUI is installed)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783080"/>
            <a:ext cx="4617720" cy="43891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12280" y="1783080"/>
            <a:ext cx="73152" cy="438912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95160" y="1874519"/>
            <a:ext cx="4343400" cy="3785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Common commands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status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start myapp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enable myapp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daemon-reload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What's failed?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--failed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List all units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list-units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list-unit-files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Default target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systemctl get-default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journald</a:t>
            </a:r>
            <a:r>
              <a:rPr sz="3200" b="1" dirty="0">
                <a:latin typeface="Calibri"/>
              </a:rPr>
              <a:t> 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Structured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All logs flow through one system, indexed by metadata, not just text.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36576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36576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29320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Browse logs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                         # all, reverse-chronological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-f                       # follow (like tail -f)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-u nginx                 # one service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-b                       # current boot only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-b -1                    # previous boot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--since '1 hour ago'    # time filter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_PID=1234                # by PID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journalctl -p err                   # by priority (err and above)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 i="1">
                <a:solidFill>
                  <a:srgbClr val="808080"/>
                </a:solidFill>
                <a:latin typeface="Consolas"/>
              </a:rPr>
              <a:t># Persistent storage (often disabled by default on embedded)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sudo mkdir -p /var/log/journal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sudo systemctl restart systemd-journald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577840"/>
            <a:ext cx="1051560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300" b="1">
                <a:solidFill>
                  <a:srgbClr val="663399"/>
                </a:solidFill>
                <a:latin typeface="Calibri"/>
              </a:rPr>
              <a:t>On embedded: persistent journald means logs survive reboots. Worth enabling for debugging field issues.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Networking Essentials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The four things you need to debug 90% of network problems.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1148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Interfaces &amp;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299056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333333"/>
                </a:solidFill>
                <a:latin typeface="Calibri"/>
              </a:rPr>
              <a:t>List interfaces</a:t>
            </a:r>
          </a:p>
          <a:p>
            <a:pPr>
              <a:spcAft>
                <a:spcPts val="1000"/>
              </a:spcAft>
            </a:pPr>
            <a:r>
              <a:rPr b="0" i="0" dirty="0" err="1">
                <a:solidFill>
                  <a:srgbClr val="333333"/>
                </a:solidFill>
                <a:latin typeface="Consolas"/>
              </a:rPr>
              <a:t>ip</a:t>
            </a:r>
            <a:r>
              <a:rPr b="0" i="0" dirty="0">
                <a:solidFill>
                  <a:srgbClr val="333333"/>
                </a:solidFill>
                <a:latin typeface="Consolas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Consolas"/>
              </a:rPr>
              <a:t>addr</a:t>
            </a:r>
            <a:r>
              <a:rPr b="0" i="0" dirty="0">
                <a:solidFill>
                  <a:srgbClr val="333333"/>
                </a:solidFill>
                <a:latin typeface="Consolas"/>
              </a:rPr>
              <a:t> show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333333"/>
                </a:solidFill>
                <a:latin typeface="Calibri"/>
              </a:rPr>
              <a:t>List routes</a:t>
            </a:r>
          </a:p>
          <a:p>
            <a:pPr>
              <a:spcAft>
                <a:spcPts val="1000"/>
              </a:spcAft>
            </a:pPr>
            <a:r>
              <a:rPr b="0" i="0" dirty="0" err="1">
                <a:solidFill>
                  <a:srgbClr val="333333"/>
                </a:solidFill>
                <a:latin typeface="Consolas"/>
              </a:rPr>
              <a:t>ip</a:t>
            </a:r>
            <a:r>
              <a:rPr b="0" i="0" dirty="0">
                <a:solidFill>
                  <a:srgbClr val="333333"/>
                </a:solidFill>
                <a:latin typeface="Consolas"/>
              </a:rPr>
              <a:t> route show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333333"/>
                </a:solidFill>
                <a:latin typeface="Calibri"/>
              </a:rPr>
              <a:t>Bring up an interface</a:t>
            </a:r>
          </a:p>
          <a:p>
            <a:pPr>
              <a:spcAft>
                <a:spcPts val="1000"/>
              </a:spcAft>
            </a:pPr>
            <a:r>
              <a:rPr b="0" i="0" dirty="0" err="1">
                <a:solidFill>
                  <a:srgbClr val="333333"/>
                </a:solidFill>
                <a:latin typeface="Consolas"/>
              </a:rPr>
              <a:t>sudo</a:t>
            </a:r>
            <a:r>
              <a:rPr b="0" i="0" dirty="0">
                <a:solidFill>
                  <a:srgbClr val="333333"/>
                </a:solidFill>
                <a:latin typeface="Consolas"/>
              </a:rPr>
              <a:t> </a:t>
            </a:r>
            <a:r>
              <a:rPr b="0" i="0" dirty="0" err="1">
                <a:solidFill>
                  <a:srgbClr val="333333"/>
                </a:solidFill>
                <a:latin typeface="Consolas"/>
              </a:rPr>
              <a:t>ip</a:t>
            </a:r>
            <a:r>
              <a:rPr b="0" i="0" dirty="0">
                <a:solidFill>
                  <a:srgbClr val="333333"/>
                </a:solidFill>
                <a:latin typeface="Consolas"/>
              </a:rPr>
              <a:t> link set eth0 up</a:t>
            </a: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333333"/>
                </a:solidFill>
                <a:latin typeface="Calibri"/>
              </a:rPr>
              <a:t>Set static IP (temp)</a:t>
            </a:r>
          </a:p>
          <a:p>
            <a:pPr>
              <a:spcAft>
                <a:spcPts val="400"/>
              </a:spcAft>
            </a:pPr>
            <a:r>
              <a:rPr sz="1400" b="0" i="0" dirty="0" err="1">
                <a:solidFill>
                  <a:srgbClr val="333333"/>
                </a:solidFill>
                <a:latin typeface="Consolas"/>
              </a:rPr>
              <a:t>sudo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ip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addr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 add 192.168.1.10/24 dev eth0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1148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DNS &amp; connectivity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277511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Resolve a name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getent hosts google.com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Test reachability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ping -c 2 8.8.8.8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DNS config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cat /etc/resolv.conf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333333"/>
                </a:solidFill>
                <a:latin typeface="Calibri"/>
              </a:rPr>
              <a:t>Trace path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traceroute google.com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603504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200" b="1">
                <a:solidFill>
                  <a:srgbClr val="663399"/>
                </a:solidFill>
                <a:latin typeface="Calibri"/>
              </a:rPr>
              <a:t>On Yocto images: networking is typically managed by systemd-networkd or NetworkManager. Know which one your image uses.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SSH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If your device exposes SSH, do these from day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672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Disable password authentication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In /etc/ssh/sshd_config:  PasswordAuthentication no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Disable root SSH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PermitRootLogin no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Use SSH keys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ssh-keygen -t ed25519     # on the host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ssh-copy-id user@device   # deploy to device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Change the default port (defense in depth, not security)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Port 2022      # cuts 90% of bot probes</a:t>
            </a: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Limit who can SSH in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AllowUsers admin diag     # exact users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Core Troubleshooting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When something doesn't work, these tell you why.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dmesg</a:t>
            </a:r>
            <a:endParaRPr sz="2000" b="1" dirty="0">
              <a:solidFill>
                <a:srgbClr val="FFFFFF"/>
              </a:solidFill>
              <a:latin typeface="Calibri"/>
            </a:endParaRPr>
          </a:p>
          <a:p>
            <a:r>
              <a:rPr sz="1400" i="1" dirty="0">
                <a:solidFill>
                  <a:srgbClr val="FFFFFF"/>
                </a:solidFill>
                <a:latin typeface="Calibri"/>
              </a:rPr>
              <a:t>Kernel messages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307776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Boot-time and driver messages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Common uses: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Why didn't device X bind?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Was the disk attached?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Did something OOM?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Commands: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dmesg -T (with timestamps)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dmesg | grep -i error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journalctl</a:t>
            </a:r>
            <a:endParaRPr sz="2000" b="1" dirty="0">
              <a:solidFill>
                <a:srgbClr val="FFFFFF"/>
              </a:solidFill>
              <a:latin typeface="Calibri"/>
            </a:endParaRPr>
          </a:p>
          <a:p>
            <a:r>
              <a:rPr sz="1400" i="1" dirty="0" err="1">
                <a:solidFill>
                  <a:srgbClr val="FFFFFF"/>
                </a:solidFill>
                <a:latin typeface="Calibri"/>
              </a:rPr>
              <a:t>Userspace</a:t>
            </a:r>
            <a:r>
              <a:rPr sz="1400" i="1" dirty="0">
                <a:solidFill>
                  <a:srgbClr val="FFFFFF"/>
                </a:solidFill>
                <a:latin typeface="Calibri"/>
              </a:rPr>
              <a:t> logs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307776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All services' logs in one place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Common uses: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Service won't start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Auth failures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Application errors</a:t>
            </a:r>
          </a:p>
          <a:p>
            <a:pPr>
              <a:spcAft>
                <a:spcPts val="400"/>
              </a:spcAft>
            </a:pPr>
            <a:endParaRPr sz="16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>
                <a:solidFill>
                  <a:srgbClr val="663399"/>
                </a:solidFill>
                <a:latin typeface="Calibri"/>
              </a:rPr>
              <a:t>Commands: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journalctl -u myapp -f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journalctl --since=today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strace</a:t>
            </a:r>
            <a:endParaRPr sz="2000" b="1" dirty="0">
              <a:solidFill>
                <a:srgbClr val="FFFFFF"/>
              </a:solidFill>
              <a:latin typeface="Calibri"/>
            </a:endParaRPr>
          </a:p>
          <a:p>
            <a:r>
              <a:rPr sz="1400" i="1" dirty="0" err="1">
                <a:solidFill>
                  <a:srgbClr val="FFFFFF"/>
                </a:solidFill>
                <a:latin typeface="Calibri"/>
              </a:rPr>
              <a:t>Syscall</a:t>
            </a:r>
            <a:r>
              <a:rPr sz="1400" i="1" dirty="0">
                <a:solidFill>
                  <a:srgbClr val="FFFFFF"/>
                </a:solidFill>
                <a:latin typeface="Calibri"/>
              </a:rPr>
              <a:t> trace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33239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Watch what a process asks the kernel for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Common uses: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Process hanging </a:t>
            </a:r>
            <a:r>
              <a:rPr lang="en-IN" sz="1600" b="0" i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where?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Missing file or library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• Permission errors</a:t>
            </a:r>
          </a:p>
          <a:p>
            <a:pPr>
              <a:spcAft>
                <a:spcPts val="400"/>
              </a:spcAft>
            </a:pPr>
            <a:endParaRPr sz="1600" b="0" i="0" dirty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b="1" i="0" dirty="0">
                <a:solidFill>
                  <a:srgbClr val="CC0066"/>
                </a:solidFill>
                <a:latin typeface="Calibri"/>
              </a:rPr>
              <a:t>Commands: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 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strace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-p &lt;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pid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&gt;</a:t>
            </a:r>
          </a:p>
          <a:p>
            <a:pPr>
              <a:spcAft>
                <a:spcPts val="400"/>
              </a:spcAft>
            </a:pPr>
            <a:r>
              <a:rPr sz="1600" b="0" i="0" dirty="0">
                <a:solidFill>
                  <a:srgbClr val="333333"/>
                </a:solidFill>
                <a:latin typeface="Calibri"/>
              </a:rPr>
              <a:t>  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strace</a:t>
            </a:r>
            <a:r>
              <a:rPr sz="1600" b="0" i="0" dirty="0">
                <a:solidFill>
                  <a:srgbClr val="333333"/>
                </a:solidFill>
                <a:latin typeface="Calibri"/>
              </a:rPr>
              <a:t> -e open ./</a:t>
            </a:r>
            <a:r>
              <a:rPr sz="1600" b="0" i="0" dirty="0" err="1">
                <a:solidFill>
                  <a:srgbClr val="333333"/>
                </a:solidFill>
                <a:latin typeface="Calibri"/>
              </a:rPr>
              <a:t>myapp</a:t>
            </a:r>
            <a:endParaRPr sz="1600" b="0" i="0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2960" y="617220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600" b="1" dirty="0">
                <a:solidFill>
                  <a:srgbClr val="663399"/>
                </a:solidFill>
                <a:latin typeface="Calibri"/>
              </a:rPr>
              <a:t>Default debugging sequence: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dmesg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first (hardware?),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journalctl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second (service?), </a:t>
            </a:r>
            <a:r>
              <a:rPr sz="1600" b="1" dirty="0" err="1">
                <a:solidFill>
                  <a:srgbClr val="663399"/>
                </a:solidFill>
                <a:latin typeface="Calibri"/>
              </a:rPr>
              <a:t>strace</a:t>
            </a:r>
            <a:r>
              <a:rPr sz="1600" b="1" dirty="0">
                <a:solidFill>
                  <a:srgbClr val="663399"/>
                </a:solidFill>
                <a:latin typeface="Calibri"/>
              </a:rPr>
              <a:t> third (specific failure?).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systemd manages everything on the running device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  <a:latin typeface="Calibri"/>
              </a:rPr>
              <a:t>Units, targets, dependencies </a:t>
            </a:r>
            <a:r>
              <a:rPr lang="en-IN" sz="1300" b="0" i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333333"/>
                </a:solidFill>
                <a:latin typeface="Calibri"/>
              </a:rPr>
              <a:t> learn </a:t>
            </a:r>
            <a:r>
              <a:rPr sz="1300" b="0" i="0" dirty="0" err="1">
                <a:solidFill>
                  <a:srgbClr val="333333"/>
                </a:solidFill>
                <a:latin typeface="Calibri"/>
              </a:rPr>
              <a:t>systemctl</a:t>
            </a:r>
            <a:r>
              <a:rPr sz="1300" b="0" i="0" dirty="0">
                <a:solidFill>
                  <a:srgbClr val="333333"/>
                </a:solidFill>
                <a:latin typeface="Calibri"/>
              </a:rPr>
              <a:t> and </a:t>
            </a:r>
            <a:r>
              <a:rPr sz="1300" b="0" i="0" dirty="0" err="1">
                <a:solidFill>
                  <a:srgbClr val="333333"/>
                </a:solidFill>
                <a:latin typeface="Calibri"/>
              </a:rPr>
              <a:t>journalctl</a:t>
            </a:r>
            <a:r>
              <a:rPr sz="1300" b="0" i="0" dirty="0">
                <a:solidFill>
                  <a:srgbClr val="333333"/>
                </a:solidFill>
                <a:latin typeface="Calibri"/>
              </a:rPr>
              <a:t>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journald is structured and queryable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2923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 dirty="0">
                <a:solidFill>
                  <a:srgbClr val="333333"/>
                </a:solidFill>
                <a:latin typeface="Calibri"/>
              </a:rPr>
              <a:t>Filter by service, time, priority, PID </a:t>
            </a:r>
            <a:r>
              <a:rPr lang="en-IN" sz="1300" b="0" i="0" dirty="0">
                <a:solidFill>
                  <a:srgbClr val="333333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333333"/>
                </a:solidFill>
                <a:latin typeface="Calibri"/>
              </a:rPr>
              <a:t> much better than grepping text files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Networking debug needs ip, ping, getent, traceroute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  <a:latin typeface="Calibri"/>
              </a:rPr>
              <a:t>Master these four and most field issues are findable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SSH hygiene is non-negotiable on shipped products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0777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Keys only, no root, allowed users, awareness of exposed 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 dirty="0" err="1">
                <a:solidFill>
                  <a:srgbClr val="663399"/>
                </a:solidFill>
                <a:latin typeface="Calibri"/>
              </a:rPr>
              <a:t>dmesg</a:t>
            </a:r>
            <a:r>
              <a:rPr sz="1600" b="1" i="0" dirty="0">
                <a:solidFill>
                  <a:srgbClr val="663399"/>
                </a:solidFill>
                <a:latin typeface="Calibri"/>
              </a:rPr>
              <a:t> → </a:t>
            </a:r>
            <a:r>
              <a:rPr sz="1600" b="1" i="0" dirty="0" err="1">
                <a:solidFill>
                  <a:srgbClr val="663399"/>
                </a:solidFill>
                <a:latin typeface="Calibri"/>
              </a:rPr>
              <a:t>journalctl</a:t>
            </a:r>
            <a:r>
              <a:rPr sz="1600" b="1" i="0" dirty="0">
                <a:solidFill>
                  <a:srgbClr val="663399"/>
                </a:solidFill>
                <a:latin typeface="Calibri"/>
              </a:rPr>
              <a:t> → </a:t>
            </a:r>
            <a:r>
              <a:rPr sz="1600" b="1" i="0" dirty="0" err="1">
                <a:solidFill>
                  <a:srgbClr val="663399"/>
                </a:solidFill>
                <a:latin typeface="Calibri"/>
              </a:rPr>
              <a:t>strace</a:t>
            </a:r>
            <a:r>
              <a:rPr sz="1600" b="1" i="0" dirty="0">
                <a:solidFill>
                  <a:srgbClr val="663399"/>
                </a:solidFill>
                <a:latin typeface="Calibri"/>
              </a:rPr>
              <a:t> is the troubleshooting ladder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 dirty="0">
                <a:solidFill>
                  <a:srgbClr val="333333"/>
                </a:solidFill>
                <a:latin typeface="Calibri"/>
              </a:rPr>
              <a:t>Hardware first, services second, </a:t>
            </a:r>
            <a:r>
              <a:rPr sz="1400" b="0" i="0" dirty="0" err="1">
                <a:solidFill>
                  <a:srgbClr val="333333"/>
                </a:solidFill>
                <a:latin typeface="Calibri"/>
              </a:rPr>
              <a:t>syscalls</a:t>
            </a:r>
            <a:r>
              <a:rPr sz="1400" b="0" i="0" dirty="0">
                <a:solidFill>
                  <a:srgbClr val="333333"/>
                </a:solidFill>
                <a:latin typeface="Calibri"/>
              </a:rPr>
              <a:t> third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600" b="1" dirty="0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Yocto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Architecture  — Poky,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BitBake</a:t>
            </a:r>
            <a:r>
              <a:rPr sz="1600" dirty="0">
                <a:solidFill>
                  <a:srgbClr val="333333"/>
                </a:solidFill>
                <a:latin typeface="Calibri"/>
              </a:rPr>
              <a:t>, layers, recipes,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sstate</a:t>
            </a:r>
            <a:endParaRPr sz="16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1063</Words>
  <Application>Microsoft Office PowerPoint</Application>
  <PresentationFormat>Widescreen</PresentationFormat>
  <Paragraphs>147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Linux Fundamentals - Part 2</vt:lpstr>
      <vt:lpstr>Session Agenda</vt:lpstr>
      <vt:lpstr>systemd : The Init System</vt:lpstr>
      <vt:lpstr>journald : Structured Logs</vt:lpstr>
      <vt:lpstr>Networking Essentials</vt:lpstr>
      <vt:lpstr>SSH Hygiene</vt:lpstr>
      <vt:lpstr>Core Troubleshooting Tools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693</cp:revision>
  <dcterms:created xsi:type="dcterms:W3CDTF">2013-11-03T09:32:00Z</dcterms:created>
  <dcterms:modified xsi:type="dcterms:W3CDTF">2026-06-08T14:10:14Z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