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  <p:sldId id="1015" r:id="rId10"/>
    <p:sldId id="1016" r:id="rId11"/>
    <p:sldId id="1017" r:id="rId12"/>
    <p:sldId id="1018" r:id="rId13"/>
    <p:sldId id="1019" r:id="rId14"/>
    <p:sldId id="1020" r:id="rId15"/>
    <p:sldId id="1021" r:id="rId16"/>
  </p:sldIdLst>
  <p:sldSz cx="12192000" cy="6858000"/>
  <p:notesSz cx="6858000" cy="9144000"/>
  <p:custDataLst>
    <p:tags r:id="rId1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2" autoAdjust="0"/>
    <p:restoredTop sz="93554" autoAdjust="0"/>
  </p:normalViewPr>
  <p:slideViewPr>
    <p:cSldViewPr snapToGrid="0" snapToObjects="1" showGuides="1">
      <p:cViewPr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Yocto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dirty="0">
                <a:solidFill>
                  <a:srgbClr val="FFFFFF"/>
                </a:solidFill>
                <a:latin typeface="Calibri"/>
              </a:rPr>
              <a:t>Linux +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Yocto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Embedded Linux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3549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1.  Why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exists </a:t>
            </a:r>
            <a:r>
              <a:rPr lang="en-IN" sz="2200" b="0" dirty="0">
                <a:solidFill>
                  <a:srgbClr val="333333"/>
                </a:solidFill>
                <a:latin typeface="Calibri"/>
              </a:rPr>
              <a:t>: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the problem it solves</a:t>
            </a:r>
          </a:p>
          <a:p>
            <a:pPr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2.  The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Project ecosystem</a:t>
            </a:r>
          </a:p>
          <a:p>
            <a:pPr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3.  Poky &amp;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OpenEmbedded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-Core</a:t>
            </a:r>
          </a:p>
          <a:p>
            <a:pPr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4. 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BitBake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lang="en-IN" sz="2200" b="0" dirty="0">
                <a:solidFill>
                  <a:srgbClr val="333333"/>
                </a:solidFill>
                <a:latin typeface="Calibri"/>
              </a:rPr>
              <a:t>: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the build engine</a:t>
            </a:r>
          </a:p>
          <a:p>
            <a:pPr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5.  Metadata layers</a:t>
            </a:r>
          </a:p>
          <a:p>
            <a:pPr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6.  Recipes &amp; tasks</a:t>
            </a:r>
          </a:p>
          <a:p>
            <a:pPr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7.  Dependencies &amp;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sstate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cache</a:t>
            </a:r>
          </a:p>
          <a:p>
            <a:pPr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8.  MACHINE, DISTRO, IMAGE</a:t>
            </a:r>
          </a:p>
          <a:p>
            <a:pPr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9.  Putting it all together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Why </a:t>
            </a:r>
            <a:r>
              <a:rPr sz="3200" b="1" dirty="0" err="1">
                <a:latin typeface="Calibri"/>
              </a:rPr>
              <a:t>Yocto</a:t>
            </a:r>
            <a:r>
              <a:rPr sz="3200" b="1" dirty="0">
                <a:latin typeface="Calibri"/>
              </a:rPr>
              <a:t>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1206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666666"/>
                </a:solidFill>
                <a:latin typeface="Calibri"/>
              </a:rPr>
              <a:t>Without Yocto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5120640" cy="152862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Every vendor maintains a custom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rootfs</a:t>
            </a:r>
            <a:endParaRPr sz="16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No standard layering or sharing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Kernel and toolchain upgrades are painful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"Works for this board" </a:t>
            </a:r>
            <a:r>
              <a:rPr lang="en-IN" sz="1600" b="0" dirty="0">
                <a:solidFill>
                  <a:srgbClr val="333333"/>
                </a:solidFill>
                <a:latin typeface="Calibri"/>
              </a:rPr>
              <a:t>-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porting is manual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Reproducibility depends on a tribal-knowledge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554480"/>
            <a:ext cx="51206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CC0066"/>
                </a:solidFill>
                <a:latin typeface="Calibri"/>
              </a:rPr>
              <a:t>With Yocto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057400"/>
            <a:ext cx="5120640" cy="152862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Standardized, layered framework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Reusable components (recipes, layers)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Reproducible builds </a:t>
            </a:r>
            <a:r>
              <a:rPr lang="en-IN" sz="1600" b="0" dirty="0">
                <a:solidFill>
                  <a:srgbClr val="333333"/>
                </a:solidFill>
                <a:latin typeface="Calibri"/>
              </a:rPr>
              <a:t>: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same input, same output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Scales from QEMU to production silicon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Industry-adopted: NXP, TI, Xilinx, Bosch, Intel...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1600" b="1" dirty="0">
                <a:solidFill>
                  <a:srgbClr val="663399"/>
                </a:solidFill>
                <a:latin typeface="Calibri"/>
              </a:rPr>
              <a:t>Bottom line: </a:t>
            </a:r>
            <a:r>
              <a:rPr sz="1600" b="1" dirty="0" err="1">
                <a:solidFill>
                  <a:srgbClr val="663399"/>
                </a:solidFill>
                <a:latin typeface="Calibri"/>
              </a:rPr>
              <a:t>Yocto</a:t>
            </a:r>
            <a:r>
              <a:rPr sz="1600" b="1" dirty="0">
                <a:solidFill>
                  <a:srgbClr val="663399"/>
                </a:solidFill>
                <a:latin typeface="Calibri"/>
              </a:rPr>
              <a:t> is a build framework, not a distro. You compose your distro from layers.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The </a:t>
            </a:r>
            <a:r>
              <a:rPr sz="3200" b="1" dirty="0" err="1">
                <a:latin typeface="Calibri"/>
              </a:rPr>
              <a:t>Yocto</a:t>
            </a:r>
            <a:r>
              <a:rPr sz="3200" b="1" dirty="0">
                <a:latin typeface="Calibri"/>
              </a:rPr>
              <a:t> Project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666666"/>
                </a:solidFill>
                <a:latin typeface="Calibri"/>
              </a:rPr>
              <a:t>These four things work together. People say "</a:t>
            </a:r>
            <a:r>
              <a:rPr sz="1600" b="0" dirty="0" err="1">
                <a:solidFill>
                  <a:srgbClr val="666666"/>
                </a:solidFill>
                <a:latin typeface="Calibri"/>
              </a:rPr>
              <a:t>Yocto</a:t>
            </a:r>
            <a:r>
              <a:rPr sz="1600" b="0" dirty="0">
                <a:solidFill>
                  <a:srgbClr val="666666"/>
                </a:solidFill>
                <a:latin typeface="Calibri"/>
              </a:rPr>
              <a:t>" loosely </a:t>
            </a:r>
            <a:r>
              <a:rPr lang="en-IN" sz="1600" b="0" dirty="0">
                <a:solidFill>
                  <a:srgbClr val="666666"/>
                </a:solidFill>
                <a:latin typeface="Calibri"/>
              </a:rPr>
              <a:t>-</a:t>
            </a:r>
            <a:r>
              <a:rPr sz="1600" b="0" dirty="0">
                <a:solidFill>
                  <a:srgbClr val="666666"/>
                </a:solidFill>
                <a:latin typeface="Calibri"/>
              </a:rPr>
              <a:t> strictly, they are distinct.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5120640" cy="182880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137160" cy="18288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7548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C0066"/>
                </a:solidFill>
                <a:latin typeface="Calibri"/>
              </a:rPr>
              <a:t>Yocto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4754879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Umbrella organization at the Linux Foundation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Coordinates the broader effort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Releases LTS schedules (Scarthgap = 5.0 LTS)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011680"/>
            <a:ext cx="5120640" cy="182880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2011680"/>
            <a:ext cx="137160" cy="182880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59" y="2103120"/>
            <a:ext cx="47548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63399"/>
                </a:solidFill>
                <a:latin typeface="Calibri"/>
              </a:rPr>
              <a:t>OpenEmbedded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514600"/>
            <a:ext cx="4754879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The build system community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Maintains the recipe collection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Older than Yocto Project; Yocto adopted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23360"/>
            <a:ext cx="5120640" cy="182880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4023360"/>
            <a:ext cx="137160" cy="182880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4114800"/>
            <a:ext cx="47548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63399"/>
                </a:solidFill>
                <a:latin typeface="Calibri"/>
              </a:rPr>
              <a:t>Poky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526280"/>
            <a:ext cx="4754879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dirty="0">
                <a:solidFill>
                  <a:srgbClr val="333333"/>
                </a:solidFill>
                <a:latin typeface="Calibri"/>
              </a:rPr>
              <a:t>The reference build you actually download</a:t>
            </a:r>
          </a:p>
          <a:p>
            <a:pPr>
              <a:spcAft>
                <a:spcPts val="300"/>
              </a:spcAft>
            </a:pPr>
            <a:r>
              <a:rPr sz="1600" dirty="0">
                <a:solidFill>
                  <a:srgbClr val="333333"/>
                </a:solidFill>
                <a:latin typeface="Calibri"/>
              </a:rPr>
              <a:t>Bundles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BitBake</a:t>
            </a:r>
            <a:r>
              <a:rPr sz="1600" dirty="0">
                <a:solidFill>
                  <a:srgbClr val="333333"/>
                </a:solidFill>
                <a:latin typeface="Calibri"/>
              </a:rPr>
              <a:t> + OE-Core + reference distro</a:t>
            </a:r>
          </a:p>
          <a:p>
            <a:pPr>
              <a:spcAft>
                <a:spcPts val="300"/>
              </a:spcAft>
            </a:pPr>
            <a:r>
              <a:rPr sz="1600" dirty="0">
                <a:solidFill>
                  <a:srgbClr val="333333"/>
                </a:solidFill>
                <a:latin typeface="Calibri"/>
              </a:rPr>
              <a:t>Your starting point </a:t>
            </a:r>
            <a:r>
              <a:rPr lang="en-IN" sz="1600" dirty="0">
                <a:solidFill>
                  <a:srgbClr val="333333"/>
                </a:solidFill>
                <a:latin typeface="Calibri"/>
              </a:rPr>
              <a:t>-</a:t>
            </a:r>
            <a:r>
              <a:rPr sz="1600" dirty="0">
                <a:solidFill>
                  <a:srgbClr val="333333"/>
                </a:solidFill>
                <a:latin typeface="Calibri"/>
              </a:rPr>
              <a:t> clone this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023360"/>
            <a:ext cx="5120640" cy="182880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4023360"/>
            <a:ext cx="137160" cy="18288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59" y="4114800"/>
            <a:ext cx="47548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C0066"/>
                </a:solidFill>
                <a:latin typeface="Calibri"/>
              </a:rPr>
              <a:t>BitBake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526280"/>
            <a:ext cx="4754879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The engine that reads metadata and builds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Like make + apt + git glued in Python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Lives inside poky/bitbake/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Poky </a:t>
            </a:r>
            <a:r>
              <a:rPr lang="en-IN" sz="3200" b="1" dirty="0">
                <a:latin typeface="Calibri"/>
              </a:rPr>
              <a:t>:</a:t>
            </a:r>
            <a:r>
              <a:rPr sz="3200" b="1" dirty="0">
                <a:latin typeface="Calibri"/>
              </a:rPr>
              <a:t>The Reference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Calibri"/>
              </a:rPr>
              <a:t>What you download. What you build on top of.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CC0066"/>
                </a:solidFill>
                <a:latin typeface="Calibri"/>
              </a:rPr>
              <a:t>Inside poky/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5120640" cy="27432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73152" cy="27432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4846320" cy="280076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poky/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├──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bitbake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         # The build engine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├── meta/            #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OpenEmbedded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-Core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├── meta-poky/       # Reference distro config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├── meta-yocto-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bsp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  # Reference BSPs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├── meta-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selftest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   # Self-tests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├── meta-skeleton/   # Recipe templates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├── scripts/         # Helper scripts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└── documentation/   # Source for the manuals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92024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CC0066"/>
                </a:solidFill>
                <a:latin typeface="Calibri"/>
              </a:rPr>
              <a:t>Get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331720"/>
            <a:ext cx="5120640" cy="146304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63640" y="2331720"/>
            <a:ext cx="73152" cy="146304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2313039"/>
            <a:ext cx="4846320" cy="15696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Clone the LTS release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git clone -b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scarthgap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\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 git://git.yoctoproject.org/poky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cd poky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931920"/>
            <a:ext cx="5120640" cy="15081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dirty="0">
                <a:solidFill>
                  <a:srgbClr val="663399"/>
                </a:solidFill>
                <a:latin typeface="Calibri"/>
              </a:rPr>
              <a:t>Poky is opinionated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It picks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systemd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glibc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, defaults you may not want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That's fine </a:t>
            </a:r>
            <a:r>
              <a:rPr lang="en-IN" sz="1600" b="0" dirty="0">
                <a:solidFill>
                  <a:srgbClr val="333333"/>
                </a:solidFill>
                <a:latin typeface="Calibri"/>
              </a:rPr>
              <a:t>-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you override via your own distro config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In production you keep poky for the base, layer your policy on top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 err="1">
                <a:latin typeface="Calibri"/>
              </a:rPr>
              <a:t>OpenEmbedded</a:t>
            </a:r>
            <a:r>
              <a:rPr sz="3200" b="1" dirty="0">
                <a:latin typeface="Calibri"/>
              </a:rPr>
              <a:t>-Core (OE-Core)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Calibri"/>
              </a:rPr>
              <a:t>The shared recipe foundation that both Poky and other distros use.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379078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dirty="0">
                <a:solidFill>
                  <a:srgbClr val="CC0066"/>
                </a:solidFill>
                <a:latin typeface="Calibri"/>
              </a:rPr>
              <a:t>Where it lives</a:t>
            </a:r>
          </a:p>
          <a:p>
            <a:pPr>
              <a:spcAft>
                <a:spcPts val="10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poky/meta/  </a:t>
            </a:r>
            <a:r>
              <a:rPr lang="en-IN" sz="1600" dirty="0">
                <a:solidFill>
                  <a:srgbClr val="333333"/>
                </a:solidFill>
                <a:latin typeface="Calibri"/>
              </a:rPr>
              <a:t>: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that directory is OE-Core</a:t>
            </a:r>
          </a:p>
          <a:p>
            <a:pPr>
              <a:spcAft>
                <a:spcPts val="400"/>
              </a:spcAft>
            </a:pPr>
            <a:r>
              <a:rPr sz="2000" b="1" dirty="0">
                <a:solidFill>
                  <a:srgbClr val="CC0066"/>
                </a:solidFill>
                <a:latin typeface="Calibri"/>
              </a:rPr>
              <a:t>What's inside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Common recipes </a:t>
            </a:r>
            <a:r>
              <a:rPr lang="en-IN" sz="1600" b="0" dirty="0">
                <a:solidFill>
                  <a:srgbClr val="333333"/>
                </a:solidFill>
                <a:latin typeface="Calibri"/>
              </a:rPr>
              <a:t>-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busybox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glibc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openssh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systemd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perl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, python3, ...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Toolchain machinery </a:t>
            </a:r>
            <a:r>
              <a:rPr lang="en-IN" sz="1600" b="0" dirty="0">
                <a:solidFill>
                  <a:srgbClr val="333333"/>
                </a:solidFill>
                <a:latin typeface="Calibri"/>
              </a:rPr>
              <a:t>-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cross-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gcc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, cross-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binutils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sysroot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setup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Common classes (.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bbclass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) </a:t>
            </a:r>
            <a:r>
              <a:rPr lang="en-IN" sz="1600" b="0" dirty="0">
                <a:solidFill>
                  <a:srgbClr val="333333"/>
                </a:solidFill>
                <a:latin typeface="Calibri"/>
              </a:rPr>
              <a:t>-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autotools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cmake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, meson, kernel, module, image</a:t>
            </a:r>
          </a:p>
          <a:p>
            <a:pPr>
              <a:spcAft>
                <a:spcPts val="10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Reference machines </a:t>
            </a:r>
            <a:r>
              <a:rPr lang="en-IN" sz="1600" b="0" dirty="0">
                <a:solidFill>
                  <a:srgbClr val="333333"/>
                </a:solidFill>
                <a:latin typeface="Calibri"/>
              </a:rPr>
              <a:t>-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qemux86,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qemuarm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, qemuarm64 (boards in meta-yocto-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bsp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)</a:t>
            </a:r>
          </a:p>
          <a:p>
            <a:pPr>
              <a:spcAft>
                <a:spcPts val="400"/>
              </a:spcAft>
            </a:pPr>
            <a:r>
              <a:rPr sz="2000" b="1" dirty="0">
                <a:solidFill>
                  <a:srgbClr val="CC0066"/>
                </a:solidFill>
                <a:latin typeface="Calibri"/>
              </a:rPr>
              <a:t>Maintained by</a:t>
            </a:r>
          </a:p>
          <a:p>
            <a:pPr>
              <a:spcAft>
                <a:spcPts val="10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The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OpenEmbedded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community +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Project — shared upstream</a:t>
            </a:r>
          </a:p>
          <a:p>
            <a:pPr>
              <a:spcAft>
                <a:spcPts val="400"/>
              </a:spcAft>
            </a:pPr>
            <a:r>
              <a:rPr sz="2000" b="1" dirty="0">
                <a:solidFill>
                  <a:srgbClr val="663399"/>
                </a:solidFill>
                <a:latin typeface="Calibri"/>
              </a:rPr>
              <a:t>Mental model</a:t>
            </a: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333333"/>
                </a:solidFill>
                <a:latin typeface="Calibri"/>
              </a:rPr>
              <a:t>Poky = OE-Core + </a:t>
            </a:r>
            <a:r>
              <a:rPr sz="1600" b="1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sz="1600" b="1" dirty="0">
                <a:solidFill>
                  <a:srgbClr val="333333"/>
                </a:solidFill>
                <a:latin typeface="Calibri"/>
              </a:rPr>
              <a:t> reference policies + BSP samples + </a:t>
            </a:r>
            <a:r>
              <a:rPr sz="1600" b="1" dirty="0" err="1">
                <a:solidFill>
                  <a:srgbClr val="333333"/>
                </a:solidFill>
                <a:latin typeface="Calibri"/>
              </a:rPr>
              <a:t>BitBake</a:t>
            </a:r>
            <a:endParaRPr sz="1600" b="1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 err="1">
                <a:latin typeface="Calibri"/>
              </a:rPr>
              <a:t>BitBake</a:t>
            </a:r>
            <a:r>
              <a:rPr lang="en-IN" sz="3200" b="1" dirty="0">
                <a:latin typeface="Calibri"/>
              </a:rPr>
              <a:t>:</a:t>
            </a:r>
            <a:r>
              <a:rPr sz="3200" b="1" dirty="0">
                <a:latin typeface="Calibri"/>
              </a:rPr>
              <a:t> The Build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666666"/>
                </a:solidFill>
                <a:latin typeface="Calibri"/>
              </a:rPr>
              <a:t>Reads metadata, builds a task graph, executes it in parallel.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120640" cy="254428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dirty="0">
                <a:solidFill>
                  <a:srgbClr val="CC0066"/>
                </a:solidFill>
                <a:latin typeface="Calibri"/>
              </a:rPr>
              <a:t>Conceptually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Like make + apt + git + Python glue, purpose-built for cross-builds</a:t>
            </a:r>
          </a:p>
          <a:p>
            <a:pPr>
              <a:spcAft>
                <a:spcPts val="400"/>
              </a:spcAft>
            </a:pPr>
            <a:r>
              <a:rPr sz="2000" b="1" dirty="0">
                <a:solidFill>
                  <a:srgbClr val="CC0066"/>
                </a:solidFill>
                <a:latin typeface="Calibri"/>
              </a:rPr>
              <a:t>Key behaviors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Parses .bb (recipes) and .conf files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Resolves dependencies between tasks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Caches task results in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sstate</a:t>
            </a:r>
            <a:endParaRPr sz="16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Schedules parallel execution across cores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874519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CC0066"/>
                </a:solidFill>
                <a:latin typeface="Calibri"/>
              </a:rPr>
              <a:t>Common commands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2286000"/>
            <a:ext cx="5120640" cy="36576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263640" y="2286000"/>
            <a:ext cx="73152" cy="36576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46520" y="2377440"/>
            <a:ext cx="4846320" cy="310854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Build an image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bitbake core-image-base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List a recipe's tasks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bitbake busybox -c listtasks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Drop into a build shell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bitbake -c devshell busybox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Show layers in use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bitbake-layers show-layers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See a recipe's expanded env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bitbake -e busybox | less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Metadata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Calibri"/>
              </a:rPr>
              <a:t>Yocto's superpower — layers stack to compose your product.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120640" cy="229806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dirty="0">
                <a:solidFill>
                  <a:srgbClr val="CC0066"/>
                </a:solidFill>
                <a:latin typeface="Calibri"/>
              </a:rPr>
              <a:t>What a layer is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A directory containing recipes, configs, classes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Has a conf/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layer.conf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identifying it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Has a stable priority higher overrides lower</a:t>
            </a:r>
          </a:p>
          <a:p>
            <a:pPr>
              <a:spcAft>
                <a:spcPts val="400"/>
              </a:spcAft>
            </a:pPr>
            <a:r>
              <a:rPr sz="2000" b="1" dirty="0">
                <a:solidFill>
                  <a:srgbClr val="CC0066"/>
                </a:solidFill>
                <a:latin typeface="Calibri"/>
              </a:rPr>
              <a:t>How layers are activated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Listed in build/conf/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bblayers.conf</a:t>
            </a:r>
            <a:endParaRPr sz="16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Use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bitbake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-layers add-layer / remove-layer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874519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CC0066"/>
                </a:solidFill>
                <a:latin typeface="Calibri"/>
              </a:rPr>
              <a:t>Common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5120640" cy="311880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663399"/>
                </a:solidFill>
                <a:latin typeface="Calibri"/>
              </a:rPr>
              <a:t>meta-</a:t>
            </a:r>
            <a:r>
              <a:rPr sz="1600" b="1" dirty="0" err="1">
                <a:solidFill>
                  <a:srgbClr val="663399"/>
                </a:solidFill>
                <a:latin typeface="Calibri"/>
              </a:rPr>
              <a:t>openembedded</a:t>
            </a:r>
            <a:endParaRPr sz="1600" b="1" dirty="0">
              <a:solidFill>
                <a:srgbClr val="663399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Thousands of extra recipes</a:t>
            </a: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663399"/>
                </a:solidFill>
                <a:latin typeface="Calibri"/>
              </a:rPr>
              <a:t>meta-</a:t>
            </a:r>
            <a:r>
              <a:rPr sz="1600" b="1" dirty="0" err="1">
                <a:solidFill>
                  <a:srgbClr val="663399"/>
                </a:solidFill>
                <a:latin typeface="Calibri"/>
              </a:rPr>
              <a:t>raspberrypi</a:t>
            </a:r>
            <a:endParaRPr sz="1600" b="1" dirty="0">
              <a:solidFill>
                <a:srgbClr val="663399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RPi BSP layer</a:t>
            </a: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663399"/>
                </a:solidFill>
                <a:latin typeface="Calibri"/>
              </a:rPr>
              <a:t>meta-virtualization</a:t>
            </a: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Docker, containers, KVM</a:t>
            </a: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663399"/>
                </a:solidFill>
                <a:latin typeface="Calibri"/>
              </a:rPr>
              <a:t>meta-security</a:t>
            </a: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Hardening tools, IMA,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AppArmor</a:t>
            </a:r>
            <a:endParaRPr sz="16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CC0066"/>
                </a:solidFill>
                <a:latin typeface="Calibri"/>
              </a:rPr>
              <a:t>meta-</a:t>
            </a:r>
            <a:r>
              <a:rPr sz="1600" b="1" dirty="0" err="1">
                <a:solidFill>
                  <a:srgbClr val="CC0066"/>
                </a:solidFill>
                <a:latin typeface="Calibri"/>
              </a:rPr>
              <a:t>yourproduct</a:t>
            </a:r>
            <a:endParaRPr sz="1600" b="1" dirty="0">
              <a:solidFill>
                <a:srgbClr val="CC0066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Your layer you'll build one in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56132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663399"/>
                </a:solidFill>
                <a:latin typeface="Calibri"/>
              </a:rPr>
              <a:t>Layers are how vendor BSPs, community recipes, and your product code live side-by-side without stepping on each other.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Recipes </a:t>
            </a:r>
            <a:r>
              <a:rPr lang="en-IN" sz="3200" b="1" dirty="0">
                <a:latin typeface="Calibri"/>
              </a:rPr>
              <a:t>:</a:t>
            </a:r>
            <a:r>
              <a:rPr sz="3200" b="1" dirty="0">
                <a:latin typeface="Calibri"/>
              </a:rPr>
              <a:t> The Building Blocks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666666"/>
                </a:solidFill>
                <a:latin typeface="Calibri"/>
              </a:rPr>
              <a:t>A recipe (.bb file) describes how to build ONE piece of software.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CC0066"/>
                </a:solidFill>
                <a:latin typeface="Calibri"/>
              </a:rPr>
              <a:t>Key variables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120640" cy="373948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663399"/>
                </a:solidFill>
                <a:latin typeface="Consolas"/>
              </a:rPr>
              <a:t>SRC_URI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Where to fetch the source from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663399"/>
                </a:solidFill>
                <a:latin typeface="Consolas"/>
              </a:rPr>
              <a:t>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Where the source extracts to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663399"/>
                </a:solidFill>
                <a:latin typeface="Consolas"/>
              </a:rPr>
              <a:t>LICENSE / LIC_FILES_CHKSUM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What license + checksum to verify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663399"/>
                </a:solidFill>
                <a:latin typeface="Consolas"/>
              </a:rPr>
              <a:t>do_compile / do_install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Tasks to execute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663399"/>
                </a:solidFill>
                <a:latin typeface="Consolas"/>
              </a:rPr>
              <a:t>FILES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What goes into the package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663399"/>
                </a:solidFill>
                <a:latin typeface="Consolas"/>
              </a:rPr>
              <a:t>DEPENDS / RDEPENDS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Build / runtime 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874519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CC0066"/>
                </a:solidFill>
                <a:latin typeface="Calibri"/>
              </a:rPr>
              <a:t>Example: busybox recipe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8053" y="2331718"/>
            <a:ext cx="5120640" cy="3918155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63640" y="2527780"/>
            <a:ext cx="73152" cy="36576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71205" y="2397969"/>
            <a:ext cx="5257800" cy="3785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SUMMARY = "Tiny versions of UNIX utilities"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DESCRIPTION = "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BusyBox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combines tiny ..."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LICENSE = "GPL-2.0-only"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HOMEPAGE = "https://busybox.net"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SRC_URI = "https://busybox.net/downloads/\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  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busybox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-${PV}.tar.bz2"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S = "${WORKDIR}/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busybox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-${PV}"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DEPENDS += "kern-tools-native"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inherit cml1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systemd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update-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rc.d</a:t>
            </a:r>
            <a:endParaRPr sz="16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Tasks: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do_configure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,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do_compile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,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do_install</a:t>
            </a:r>
            <a:endParaRPr sz="1600" i="1" dirty="0">
              <a:solidFill>
                <a:srgbClr val="808080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inherited from cml1 + custom logic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Tasks </a:t>
            </a:r>
            <a:r>
              <a:rPr lang="en-IN" sz="3200" b="1" dirty="0">
                <a:latin typeface="Calibri"/>
              </a:rPr>
              <a:t>:</a:t>
            </a:r>
            <a:r>
              <a:rPr sz="3200" b="1" dirty="0">
                <a:latin typeface="Calibri"/>
              </a:rPr>
              <a:t> The Execution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666666"/>
                </a:solidFill>
                <a:latin typeface="Calibri"/>
              </a:rPr>
              <a:t>Each recipe runs a standard chain of tasks. </a:t>
            </a:r>
            <a:r>
              <a:rPr sz="1600" b="0" dirty="0" err="1">
                <a:solidFill>
                  <a:srgbClr val="666666"/>
                </a:solidFill>
                <a:latin typeface="Calibri"/>
              </a:rPr>
              <a:t>BitBake</a:t>
            </a:r>
            <a:r>
              <a:rPr sz="1600" b="0" dirty="0">
                <a:solidFill>
                  <a:srgbClr val="666666"/>
                </a:solidFill>
                <a:latin typeface="Calibri"/>
              </a:rPr>
              <a:t> schedules them.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03120"/>
            <a:ext cx="1298448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b="1" dirty="0" err="1">
                <a:solidFill>
                  <a:srgbClr val="663399"/>
                </a:solidFill>
                <a:latin typeface="Consolas"/>
              </a:rPr>
              <a:t>do_fetch</a:t>
            </a:r>
            <a:endParaRPr b="1" dirty="0">
              <a:solidFill>
                <a:srgbClr val="663399"/>
              </a:solidFill>
              <a:latin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2788920"/>
            <a:ext cx="1298448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Calibri"/>
              </a:rPr>
              <a:t>Get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01368" y="2103120"/>
            <a:ext cx="1298448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b="1" dirty="0" err="1">
                <a:solidFill>
                  <a:srgbClr val="663399"/>
                </a:solidFill>
                <a:latin typeface="Consolas"/>
              </a:rPr>
              <a:t>do_unpack</a:t>
            </a:r>
            <a:endParaRPr b="1" dirty="0">
              <a:solidFill>
                <a:srgbClr val="663399"/>
              </a:solidFill>
              <a:latin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801368" y="2788920"/>
            <a:ext cx="1298448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Calibri"/>
              </a:rPr>
              <a:t>Extract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45536" y="2103120"/>
            <a:ext cx="1298448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b="1">
                <a:solidFill>
                  <a:srgbClr val="663399"/>
                </a:solidFill>
                <a:latin typeface="Consolas"/>
              </a:rPr>
              <a:t>do_patch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5536" y="2788920"/>
            <a:ext cx="1298448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Calibri"/>
              </a:rPr>
              <a:t>Apply patches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9704" y="2103120"/>
            <a:ext cx="1298448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b="1">
                <a:solidFill>
                  <a:srgbClr val="663399"/>
                </a:solidFill>
                <a:latin typeface="Consolas"/>
              </a:rPr>
              <a:t>do_configure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9704" y="2788920"/>
            <a:ext cx="1298448" cy="58477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Calibri"/>
              </a:rPr>
              <a:t>Configure build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33872" y="2103120"/>
            <a:ext cx="1298448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b="1">
                <a:solidFill>
                  <a:srgbClr val="663399"/>
                </a:solidFill>
                <a:latin typeface="Consolas"/>
              </a:rPr>
              <a:t>do_compile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33872" y="2788920"/>
            <a:ext cx="1298448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Calibri"/>
              </a:rPr>
              <a:t>Compile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2103120"/>
            <a:ext cx="1298448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b="1">
                <a:solidFill>
                  <a:srgbClr val="663399"/>
                </a:solidFill>
                <a:latin typeface="Consolas"/>
              </a:rPr>
              <a:t>do_install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788920"/>
            <a:ext cx="1298448" cy="58477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Calibri"/>
              </a:rPr>
              <a:t>Install to staging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22208" y="2103120"/>
            <a:ext cx="1298448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b="1">
                <a:solidFill>
                  <a:srgbClr val="663399"/>
                </a:solidFill>
                <a:latin typeface="Consolas"/>
              </a:rPr>
              <a:t>do_package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8" y="2788920"/>
            <a:ext cx="1298448" cy="58477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Calibri"/>
              </a:rPr>
              <a:t>Create packages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66376" y="2103120"/>
            <a:ext cx="1298448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b="1">
                <a:solidFill>
                  <a:srgbClr val="663399"/>
                </a:solidFill>
                <a:latin typeface="Consolas"/>
              </a:rPr>
              <a:t>do_image*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66376" y="2788920"/>
            <a:ext cx="1298448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Calibri"/>
              </a:rPr>
              <a:t>Build image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657600"/>
            <a:ext cx="10515600" cy="159017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dirty="0">
                <a:solidFill>
                  <a:srgbClr val="CC0066"/>
                </a:solidFill>
                <a:latin typeface="Calibri"/>
              </a:rPr>
              <a:t>Useful tips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Each task is a Python or shell function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onsolas"/>
              </a:rPr>
              <a:t>• Inspect at any step: </a:t>
            </a:r>
            <a:r>
              <a:rPr sz="1600" b="0" dirty="0" err="1">
                <a:solidFill>
                  <a:srgbClr val="333333"/>
                </a:solidFill>
                <a:latin typeface="Consolas"/>
              </a:rPr>
              <a:t>bitbake</a:t>
            </a:r>
            <a:r>
              <a:rPr sz="1600" b="0" dirty="0">
                <a:solidFill>
                  <a:srgbClr val="333333"/>
                </a:solidFill>
                <a:latin typeface="Consolas"/>
              </a:rPr>
              <a:t> </a:t>
            </a:r>
            <a:r>
              <a:rPr sz="1600" b="0" dirty="0" err="1">
                <a:solidFill>
                  <a:srgbClr val="333333"/>
                </a:solidFill>
                <a:latin typeface="Consolas"/>
              </a:rPr>
              <a:t>busybox</a:t>
            </a:r>
            <a:r>
              <a:rPr sz="1600" b="0" dirty="0">
                <a:solidFill>
                  <a:srgbClr val="333333"/>
                </a:solidFill>
                <a:latin typeface="Consolas"/>
              </a:rPr>
              <a:t> -c </a:t>
            </a:r>
            <a:r>
              <a:rPr sz="1600" b="0" dirty="0" err="1">
                <a:solidFill>
                  <a:srgbClr val="333333"/>
                </a:solidFill>
                <a:latin typeface="Consolas"/>
              </a:rPr>
              <a:t>devshell</a:t>
            </a:r>
            <a:endParaRPr sz="1600" b="0" dirty="0">
              <a:solidFill>
                <a:srgbClr val="333333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onsolas"/>
              </a:rPr>
              <a:t>• Re-run one task: </a:t>
            </a:r>
            <a:r>
              <a:rPr sz="1600" b="0" dirty="0" err="1">
                <a:solidFill>
                  <a:srgbClr val="333333"/>
                </a:solidFill>
                <a:latin typeface="Consolas"/>
              </a:rPr>
              <a:t>bitbake</a:t>
            </a:r>
            <a:r>
              <a:rPr sz="1600" b="0" dirty="0">
                <a:solidFill>
                  <a:srgbClr val="333333"/>
                </a:solidFill>
                <a:latin typeface="Consolas"/>
              </a:rPr>
              <a:t> </a:t>
            </a:r>
            <a:r>
              <a:rPr sz="1600" b="0" dirty="0" err="1">
                <a:solidFill>
                  <a:srgbClr val="333333"/>
                </a:solidFill>
                <a:latin typeface="Consolas"/>
              </a:rPr>
              <a:t>busybox</a:t>
            </a:r>
            <a:r>
              <a:rPr sz="1600" b="0" dirty="0">
                <a:solidFill>
                  <a:srgbClr val="333333"/>
                </a:solidFill>
                <a:latin typeface="Consolas"/>
              </a:rPr>
              <a:t> -c compile -f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Custom tasks added via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addtask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recipe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Dependencies </a:t>
            </a:r>
            <a:r>
              <a:rPr lang="en-IN" sz="3200" b="1" dirty="0">
                <a:latin typeface="Calibri"/>
              </a:rPr>
              <a:t>:</a:t>
            </a:r>
            <a:r>
              <a:rPr sz="3200" b="1" dirty="0">
                <a:latin typeface="Calibri"/>
              </a:rPr>
              <a:t> Build vs Runtime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666666"/>
                </a:solidFill>
                <a:latin typeface="Calibri"/>
              </a:rPr>
              <a:t>Two kinds of dependencies. Confusing them breaks devices in the field.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5120640" cy="41148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01168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CC0066"/>
                </a:solidFill>
                <a:latin typeface="Calibri"/>
              </a:rPr>
              <a:t>DEPENDS (build-time)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937760" cy="276998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1" dirty="0">
                <a:solidFill>
                  <a:srgbClr val="333333"/>
                </a:solidFill>
                <a:latin typeface="Calibri"/>
              </a:rPr>
              <a:t>"I need this to compile"</a:t>
            </a: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333333"/>
                </a:solidFill>
                <a:latin typeface="Calibri"/>
              </a:rPr>
              <a:t>• Resolved before </a:t>
            </a:r>
            <a:r>
              <a:rPr b="0" dirty="0" err="1">
                <a:solidFill>
                  <a:srgbClr val="333333"/>
                </a:solidFill>
                <a:latin typeface="Calibri"/>
              </a:rPr>
              <a:t>do_compile</a:t>
            </a:r>
            <a:endParaRPr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333333"/>
                </a:solidFill>
                <a:latin typeface="Calibri"/>
              </a:rPr>
              <a:t>• Names refer to other recipes' BPN</a:t>
            </a:r>
          </a:p>
          <a:p>
            <a:pPr>
              <a:spcAft>
                <a:spcPts val="1000"/>
              </a:spcAft>
            </a:pPr>
            <a:r>
              <a:rPr b="0" dirty="0">
                <a:solidFill>
                  <a:srgbClr val="333333"/>
                </a:solidFill>
                <a:latin typeface="Calibri"/>
              </a:rPr>
              <a:t>• Pulls headers, libraries, tools into </a:t>
            </a:r>
            <a:r>
              <a:rPr b="0" dirty="0" err="1">
                <a:solidFill>
                  <a:srgbClr val="333333"/>
                </a:solidFill>
                <a:latin typeface="Calibri"/>
              </a:rPr>
              <a:t>sysroot</a:t>
            </a:r>
            <a:endParaRPr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b="1" dirty="0">
                <a:solidFill>
                  <a:srgbClr val="663399"/>
                </a:solidFill>
                <a:latin typeface="Calibri"/>
              </a:rPr>
              <a:t>Example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333333"/>
                </a:solidFill>
                <a:latin typeface="Consolas"/>
              </a:rPr>
              <a:t>DEPENDS = "</a:t>
            </a:r>
            <a:r>
              <a:rPr sz="1600" b="0" dirty="0" err="1">
                <a:solidFill>
                  <a:srgbClr val="333333"/>
                </a:solidFill>
                <a:latin typeface="Consolas"/>
              </a:rPr>
              <a:t>openssl</a:t>
            </a:r>
            <a:r>
              <a:rPr sz="1600" b="0" dirty="0">
                <a:solidFill>
                  <a:srgbClr val="333333"/>
                </a:solidFill>
                <a:latin typeface="Consolas"/>
              </a:rPr>
              <a:t> </a:t>
            </a:r>
            <a:r>
              <a:rPr sz="1600" b="0" dirty="0" err="1">
                <a:solidFill>
                  <a:srgbClr val="333333"/>
                </a:solidFill>
                <a:latin typeface="Consolas"/>
              </a:rPr>
              <a:t>zlib</a:t>
            </a:r>
            <a:r>
              <a:rPr sz="1600" b="0" dirty="0">
                <a:solidFill>
                  <a:srgbClr val="333333"/>
                </a:solidFill>
                <a:latin typeface="Consolas"/>
              </a:rPr>
              <a:t> libxml2"</a:t>
            </a: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666666"/>
                </a:solidFill>
                <a:latin typeface="Calibri"/>
              </a:rPr>
              <a:t>These provide build-time headers; nothing ships from them on target.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74519"/>
            <a:ext cx="5120640" cy="41148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663399"/>
                </a:solidFill>
                <a:latin typeface="Calibri"/>
              </a:rPr>
              <a:t>RDEPENDS (runtime)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4937760" cy="276998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333333"/>
                </a:solidFill>
                <a:latin typeface="Calibri"/>
              </a:rPr>
              <a:t>"My package needs this on the device"</a:t>
            </a:r>
          </a:p>
          <a:p>
            <a:pPr>
              <a:spcAft>
                <a:spcPts val="400"/>
              </a:spcAft>
            </a:pPr>
            <a:r>
              <a:rPr b="0">
                <a:solidFill>
                  <a:srgbClr val="333333"/>
                </a:solidFill>
                <a:latin typeface="Calibri"/>
              </a:rPr>
              <a:t>• Resolved at packaging time</a:t>
            </a:r>
          </a:p>
          <a:p>
            <a:pPr>
              <a:spcAft>
                <a:spcPts val="400"/>
              </a:spcAft>
            </a:pPr>
            <a:r>
              <a:rPr b="0">
                <a:solidFill>
                  <a:srgbClr val="333333"/>
                </a:solidFill>
                <a:latin typeface="Calibri"/>
              </a:rPr>
              <a:t>• Names refer to package names (PN)</a:t>
            </a:r>
          </a:p>
          <a:p>
            <a:pPr>
              <a:spcAft>
                <a:spcPts val="1000"/>
              </a:spcAft>
            </a:pPr>
            <a:r>
              <a:rPr b="0">
                <a:solidFill>
                  <a:srgbClr val="333333"/>
                </a:solidFill>
                <a:latin typeface="Calibri"/>
              </a:rPr>
              <a:t>• Pulls runtime libs into the rootfs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CC0066"/>
                </a:solidFill>
                <a:latin typeface="Calibri"/>
              </a:rPr>
              <a:t>Example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Consolas"/>
              </a:rPr>
              <a:t>RDEPENDS:${PN} = "openssl python3-core"</a:t>
            </a:r>
          </a:p>
          <a:p>
            <a:pPr>
              <a:spcAft>
                <a:spcPts val="400"/>
              </a:spcAft>
            </a:pPr>
            <a:r>
              <a:rPr b="0">
                <a:solidFill>
                  <a:srgbClr val="666666"/>
                </a:solidFill>
                <a:latin typeface="Calibri"/>
              </a:rPr>
              <a:t>Without this, your app installs but fails at runtime with missing libraries.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1056132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dirty="0">
                <a:solidFill>
                  <a:srgbClr val="CC0066"/>
                </a:solidFill>
                <a:latin typeface="Calibri"/>
              </a:rPr>
              <a:t>Tip: 90% of "works on my host, fails on target" bugs trace back to missing RDEPENDS.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 err="1">
                <a:latin typeface="Calibri"/>
              </a:rPr>
              <a:t>sstate</a:t>
            </a:r>
            <a:r>
              <a:rPr sz="3200" b="1" dirty="0">
                <a:latin typeface="Calibri"/>
              </a:rPr>
              <a:t> Cache </a:t>
            </a:r>
            <a:r>
              <a:rPr lang="en-IN" sz="3200" b="1" dirty="0">
                <a:latin typeface="Calibri"/>
              </a:rPr>
              <a:t>:</a:t>
            </a:r>
            <a:r>
              <a:rPr sz="3200" b="1" dirty="0">
                <a:latin typeface="Calibri"/>
              </a:rPr>
              <a:t> Why Builds Get Faster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Calibri"/>
              </a:rPr>
              <a:t>The single feature that makes Yocto practical at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943600" cy="40934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dirty="0">
                <a:solidFill>
                  <a:srgbClr val="CC0066"/>
                </a:solidFill>
                <a:latin typeface="Calibri"/>
              </a:rPr>
              <a:t>How it works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Every task gets a signature</a:t>
            </a:r>
            <a:r>
              <a:rPr lang="en-IN" sz="1600" b="0" dirty="0">
                <a:solidFill>
                  <a:srgbClr val="333333"/>
                </a:solidFill>
                <a:latin typeface="Calibri"/>
              </a:rPr>
              <a:t>,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a hash of all its inputs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Inputs include: source content, config vars, recipe content, dependencies' hashes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Task result is cached by signature in SSTATE_DIR</a:t>
            </a:r>
          </a:p>
          <a:p>
            <a:pPr>
              <a:spcAft>
                <a:spcPts val="400"/>
              </a:spcAft>
            </a:pPr>
            <a:r>
              <a:rPr sz="2000" b="1" dirty="0">
                <a:solidFill>
                  <a:srgbClr val="CC0066"/>
                </a:solidFill>
                <a:latin typeface="Calibri"/>
              </a:rPr>
              <a:t>What you see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First build of an image: 4–8 hours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Rebuild with no changes: a few seconds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Change one recipe: rebuild only that + downstream tasks</a:t>
            </a:r>
          </a:p>
          <a:p>
            <a:pPr>
              <a:spcAft>
                <a:spcPts val="400"/>
              </a:spcAft>
            </a:pPr>
            <a:r>
              <a:rPr sz="2000" b="1" dirty="0">
                <a:solidFill>
                  <a:srgbClr val="CC0066"/>
                </a:solidFill>
                <a:latin typeface="Calibri"/>
              </a:rPr>
              <a:t>Why teams care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Set up a shared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sstate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mirror</a:t>
            </a:r>
            <a:r>
              <a:rPr lang="en-IN" sz="1600" b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everyone benefits from one teammate's build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• CI builds become incremental, not full from scratch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0" y="1874519"/>
            <a:ext cx="4389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CC0066"/>
                </a:solidFill>
                <a:latin typeface="Calibri"/>
              </a:rPr>
              <a:t>Configuration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2286000"/>
            <a:ext cx="4389120" cy="36576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040880" y="2286000"/>
            <a:ext cx="73152" cy="36576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23760" y="2377440"/>
            <a:ext cx="4114800" cy="30469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In conf/local.conf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SSTATE_DIR = \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 "${HOME}/yocto/sstate-cache"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Shared team mirror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SSTATE_MIRRORS = "\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 file://.* \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 http://build/sstate/PATH"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Number of build threads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BB_NUMBER_THREADS = "8"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MACHINE • DISTRO • IMAGE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Calibri"/>
              </a:rPr>
              <a:t>Three independent variables that compose your final build.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MACHINE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What hardware?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514600"/>
            <a:ext cx="3520440" cy="338328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19" y="2606039"/>
            <a:ext cx="3337560" cy="328295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CC0066"/>
                </a:solidFill>
                <a:latin typeface="Calibri"/>
              </a:rPr>
              <a:t>Set in </a:t>
            </a:r>
            <a:r>
              <a:rPr sz="1600" b="1" dirty="0" err="1">
                <a:solidFill>
                  <a:srgbClr val="CC0066"/>
                </a:solidFill>
                <a:latin typeface="Calibri"/>
              </a:rPr>
              <a:t>local.conf</a:t>
            </a:r>
            <a:endParaRPr sz="1600" b="1" dirty="0">
              <a:solidFill>
                <a:srgbClr val="CC0066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663399"/>
                </a:solidFill>
                <a:latin typeface="Consolas"/>
              </a:rPr>
              <a:t>MACHINE = "raspberrypi4-64"</a:t>
            </a:r>
          </a:p>
          <a:p>
            <a:pPr>
              <a:spcAft>
                <a:spcPts val="400"/>
              </a:spcAft>
            </a:pPr>
            <a:endParaRPr sz="1100" b="0" dirty="0">
              <a:solidFill>
                <a:srgbClr val="663399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CC0066"/>
                </a:solidFill>
                <a:latin typeface="Calibri"/>
              </a:rPr>
              <a:t>Examples: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3333"/>
                </a:solidFill>
                <a:latin typeface="Calibri"/>
              </a:rPr>
              <a:t>• raspberrypi4-64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3333"/>
                </a:solidFill>
                <a:latin typeface="Calibri"/>
              </a:rPr>
              <a:t>• qemux86-64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3333"/>
                </a:solidFill>
                <a:latin typeface="Calibri"/>
              </a:rPr>
              <a:t>• </a:t>
            </a:r>
            <a:r>
              <a:rPr sz="1400" b="0" dirty="0" err="1">
                <a:solidFill>
                  <a:srgbClr val="333333"/>
                </a:solidFill>
                <a:latin typeface="Calibri"/>
              </a:rPr>
              <a:t>beaglebone-yocto</a:t>
            </a:r>
            <a:endParaRPr sz="14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3333"/>
                </a:solidFill>
                <a:latin typeface="Calibri"/>
              </a:rPr>
              <a:t>• imx8mp-evk</a:t>
            </a:r>
          </a:p>
          <a:p>
            <a:pPr>
              <a:spcAft>
                <a:spcPts val="400"/>
              </a:spcAft>
            </a:pPr>
            <a:endParaRPr sz="14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CC0066"/>
                </a:solidFill>
                <a:latin typeface="Calibri"/>
              </a:rPr>
              <a:t>Provided by BSP layers.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3333"/>
                </a:solidFill>
                <a:latin typeface="Calibri"/>
              </a:rPr>
              <a:t>Defines CPU arch, boot params, storage layout, </a:t>
            </a:r>
            <a:r>
              <a:rPr sz="1400" b="0" dirty="0" err="1">
                <a:solidFill>
                  <a:srgbClr val="333333"/>
                </a:solidFill>
                <a:latin typeface="Calibri"/>
              </a:rPr>
              <a:t>devicetree</a:t>
            </a:r>
            <a:r>
              <a:rPr sz="1400" b="0" dirty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874519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DISTRO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What policy?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514600"/>
            <a:ext cx="3520440" cy="338328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2606039"/>
            <a:ext cx="3337560" cy="301621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663399"/>
                </a:solidFill>
                <a:latin typeface="Calibri"/>
              </a:rPr>
              <a:t>Set in </a:t>
            </a:r>
            <a:r>
              <a:rPr sz="1600" b="1" dirty="0" err="1">
                <a:solidFill>
                  <a:srgbClr val="663399"/>
                </a:solidFill>
                <a:latin typeface="Calibri"/>
              </a:rPr>
              <a:t>local.conf</a:t>
            </a:r>
            <a:endParaRPr sz="1600" b="1" dirty="0">
              <a:solidFill>
                <a:srgbClr val="663399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663399"/>
                </a:solidFill>
                <a:latin typeface="Consolas"/>
              </a:rPr>
              <a:t>DISTRO = "poky"</a:t>
            </a:r>
          </a:p>
          <a:p>
            <a:pPr>
              <a:spcAft>
                <a:spcPts val="400"/>
              </a:spcAft>
            </a:pPr>
            <a:endParaRPr sz="1100" b="0" dirty="0">
              <a:solidFill>
                <a:srgbClr val="663399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663399"/>
                </a:solidFill>
                <a:latin typeface="Calibri"/>
              </a:rPr>
              <a:t>Examples: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3333"/>
                </a:solidFill>
                <a:latin typeface="Calibri"/>
              </a:rPr>
              <a:t>• poky (default)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3333"/>
                </a:solidFill>
                <a:latin typeface="Calibri"/>
              </a:rPr>
              <a:t>• poky-tiny (small)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3333"/>
                </a:solidFill>
                <a:latin typeface="Calibri"/>
              </a:rPr>
              <a:t>• </a:t>
            </a:r>
            <a:r>
              <a:rPr sz="1400" b="0" dirty="0" err="1">
                <a:solidFill>
                  <a:srgbClr val="333333"/>
                </a:solidFill>
                <a:latin typeface="Calibri"/>
              </a:rPr>
              <a:t>yourcompany</a:t>
            </a:r>
            <a:r>
              <a:rPr sz="1400" b="0" dirty="0">
                <a:solidFill>
                  <a:srgbClr val="333333"/>
                </a:solidFill>
                <a:latin typeface="Calibri"/>
              </a:rPr>
              <a:t>-distro</a:t>
            </a:r>
          </a:p>
          <a:p>
            <a:pPr>
              <a:spcAft>
                <a:spcPts val="400"/>
              </a:spcAft>
            </a:pPr>
            <a:endParaRPr sz="14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663399"/>
                </a:solidFill>
                <a:latin typeface="Calibri"/>
              </a:rPr>
              <a:t>Provided by distro layers.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3333"/>
                </a:solidFill>
                <a:latin typeface="Calibri"/>
              </a:rPr>
              <a:t>Defines </a:t>
            </a:r>
            <a:r>
              <a:rPr sz="1400" b="0" dirty="0" err="1">
                <a:solidFill>
                  <a:srgbClr val="333333"/>
                </a:solidFill>
                <a:latin typeface="Calibri"/>
              </a:rPr>
              <a:t>init</a:t>
            </a:r>
            <a:r>
              <a:rPr sz="1400" b="0" dirty="0">
                <a:solidFill>
                  <a:srgbClr val="333333"/>
                </a:solidFill>
                <a:latin typeface="Calibri"/>
              </a:rPr>
              <a:t> system, </a:t>
            </a:r>
            <a:r>
              <a:rPr sz="1400" b="0" dirty="0" err="1">
                <a:solidFill>
                  <a:srgbClr val="333333"/>
                </a:solidFill>
                <a:latin typeface="Calibri"/>
              </a:rPr>
              <a:t>libc</a:t>
            </a:r>
            <a:r>
              <a:rPr sz="1400" b="0" dirty="0">
                <a:solidFill>
                  <a:srgbClr val="333333"/>
                </a:solidFill>
                <a:latin typeface="Calibri"/>
              </a:rPr>
              <a:t> choice, package manager defaults, features.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874519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IMAGE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What contents?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514600"/>
            <a:ext cx="3520440" cy="338328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19" y="2606039"/>
            <a:ext cx="3337560" cy="319061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CC0066"/>
                </a:solidFill>
                <a:latin typeface="Calibri"/>
              </a:rPr>
              <a:t>Passed to bitbake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63399"/>
                </a:solidFill>
                <a:latin typeface="Consolas"/>
              </a:rPr>
              <a:t>bitbake your-image</a:t>
            </a:r>
          </a:p>
          <a:p>
            <a:pPr>
              <a:spcAft>
                <a:spcPts val="400"/>
              </a:spcAft>
            </a:pPr>
            <a:endParaRPr sz="1100" b="0">
              <a:solidFill>
                <a:srgbClr val="663399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CC0066"/>
                </a:solidFill>
                <a:latin typeface="Calibri"/>
              </a:rPr>
              <a:t>Examples: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core-image-minimal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core-image-base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core-image-full-cmdline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yourproduct-image</a:t>
            </a:r>
          </a:p>
          <a:p>
            <a:pPr>
              <a:spcAft>
                <a:spcPts val="400"/>
              </a:spcAft>
            </a:pPr>
            <a:endParaRPr sz="1400" b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CC0066"/>
                </a:solidFill>
                <a:latin typeface="Calibri"/>
              </a:rPr>
              <a:t>A recipe in itself.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Defines which packages get installed in the rootfs.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1056132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663399"/>
                </a:solidFill>
                <a:latin typeface="Calibri"/>
              </a:rPr>
              <a:t>Change MACHINE to retarget the hardware. Change DISTRO to retarget the policy. Change IMAGE to retarget the product.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Putting It All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666666"/>
                </a:solidFill>
                <a:latin typeface="Calibri"/>
              </a:rPr>
              <a:t>From `</a:t>
            </a:r>
            <a:r>
              <a:rPr sz="1600" b="0" dirty="0" err="1">
                <a:solidFill>
                  <a:srgbClr val="666666"/>
                </a:solidFill>
                <a:latin typeface="Calibri"/>
              </a:rPr>
              <a:t>bitbake</a:t>
            </a:r>
            <a:r>
              <a:rPr sz="1600" b="0" dirty="0">
                <a:solidFill>
                  <a:srgbClr val="666666"/>
                </a:solidFill>
                <a:latin typeface="Calibri"/>
              </a:rPr>
              <a:t> your-image` to a </a:t>
            </a:r>
            <a:r>
              <a:rPr b="0" dirty="0">
                <a:solidFill>
                  <a:srgbClr val="666666"/>
                </a:solidFill>
                <a:latin typeface="Calibri"/>
              </a:rPr>
              <a:t>bootable</a:t>
            </a:r>
            <a:r>
              <a:rPr sz="1600" b="0" dirty="0">
                <a:solidFill>
                  <a:srgbClr val="666666"/>
                </a:solidFill>
                <a:latin typeface="Calibri"/>
              </a:rPr>
              <a:t> artifact </a:t>
            </a:r>
            <a:r>
              <a:rPr lang="en-IN" sz="1600" b="0" dirty="0">
                <a:solidFill>
                  <a:srgbClr val="666666"/>
                </a:solidFill>
                <a:latin typeface="Calibri"/>
              </a:rPr>
              <a:t>:</a:t>
            </a:r>
            <a:r>
              <a:rPr sz="16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lang="en-IN" sz="1600" dirty="0">
                <a:solidFill>
                  <a:srgbClr val="666666"/>
                </a:solidFill>
                <a:latin typeface="Calibri"/>
              </a:rPr>
              <a:t>T</a:t>
            </a:r>
            <a:r>
              <a:rPr sz="1600" b="0" dirty="0">
                <a:solidFill>
                  <a:srgbClr val="666666"/>
                </a:solidFill>
                <a:latin typeface="Calibri"/>
              </a:rPr>
              <a:t>he journey.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96491"/>
            <a:ext cx="9966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solidFill>
                  <a:srgbClr val="333333"/>
                </a:solidFill>
                <a:latin typeface="Calibri"/>
              </a:rPr>
              <a:t>You write/clone layers (vendor BSP, OE-Core, meta-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yourproduct</a:t>
            </a:r>
            <a:r>
              <a:rPr sz="1600" dirty="0">
                <a:solidFill>
                  <a:srgbClr val="333333"/>
                </a:solidFill>
                <a:latin typeface="Calibri"/>
              </a:rPr>
              <a:t>)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23160"/>
            <a:ext cx="411480" cy="411480"/>
          </a:xfrm>
          <a:prstGeom prst="ellipse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99411"/>
            <a:ext cx="9966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Calibri"/>
              </a:rPr>
              <a:t>You configure bblayers.conf and local.conf (MACHINE, DISTRO)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926080"/>
            <a:ext cx="411480" cy="411480"/>
          </a:xfrm>
          <a:prstGeom prst="ellipse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962656"/>
            <a:ext cx="9966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Calibri"/>
              </a:rPr>
              <a:t>You run: bitbake your-image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429000"/>
            <a:ext cx="411480" cy="411480"/>
          </a:xfrm>
          <a:prstGeom prst="ellipse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465576"/>
            <a:ext cx="9966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Calibri"/>
              </a:rPr>
              <a:t>BitBake parses all .bb files in active layers, builds the task graph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931920"/>
            <a:ext cx="411480" cy="411480"/>
          </a:xfrm>
          <a:prstGeom prst="ellipse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66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Calibri"/>
              </a:rPr>
              <a:t>Tasks execute in dependency order, in parallel, on cached or fresh inputs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434840"/>
            <a:ext cx="411480" cy="411480"/>
          </a:xfrm>
          <a:prstGeom prst="ellipse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471416"/>
            <a:ext cx="9966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 err="1">
                <a:solidFill>
                  <a:srgbClr val="333333"/>
                </a:solidFill>
                <a:latin typeface="Calibri"/>
              </a:rPr>
              <a:t>sstate</a:t>
            </a:r>
            <a:r>
              <a:rPr sz="1600" dirty="0">
                <a:solidFill>
                  <a:srgbClr val="333333"/>
                </a:solidFill>
                <a:latin typeface="Calibri"/>
              </a:rPr>
              <a:t> caches each task's output </a:t>
            </a:r>
            <a:r>
              <a:rPr lang="en-IN" sz="1600" dirty="0">
                <a:solidFill>
                  <a:srgbClr val="333333"/>
                </a:solidFill>
                <a:latin typeface="Calibri"/>
              </a:rPr>
              <a:t>s</a:t>
            </a:r>
            <a:r>
              <a:rPr sz="1600" dirty="0">
                <a:solidFill>
                  <a:srgbClr val="333333"/>
                </a:solidFill>
                <a:latin typeface="Calibri"/>
              </a:rPr>
              <a:t>peed compounds across builds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937760"/>
            <a:ext cx="411480" cy="411480"/>
          </a:xfrm>
          <a:prstGeom prst="ellipse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974336"/>
            <a:ext cx="9966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Calibri"/>
              </a:rPr>
              <a:t>do_image_* tasks assemble the rootfs into your final image format (wic, ext4, etc.)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440680"/>
            <a:ext cx="411480" cy="411480"/>
          </a:xfrm>
          <a:prstGeom prst="ellipse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477256"/>
            <a:ext cx="9966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solidFill>
                  <a:srgbClr val="333333"/>
                </a:solidFill>
                <a:latin typeface="Calibri"/>
              </a:rPr>
              <a:t>Artifact lands in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tmp</a:t>
            </a:r>
            <a:r>
              <a:rPr sz="1600" dirty="0">
                <a:solidFill>
                  <a:srgbClr val="333333"/>
                </a:solidFill>
                <a:latin typeface="Calibri"/>
              </a:rPr>
              <a:t>/deploy/images/${MACHINE}/  bootable,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flashable</a:t>
            </a:r>
            <a:endParaRPr sz="160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666666"/>
                </a:solidFill>
                <a:latin typeface="Calibri"/>
              </a:rPr>
              <a:t>Five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663399"/>
                </a:solidFill>
                <a:latin typeface="Calibri"/>
              </a:rPr>
              <a:t>Yocto is a framework, not a distro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You compose your distro from layers; you don't install "Yocto"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663399"/>
                </a:solidFill>
                <a:latin typeface="Calibri"/>
              </a:rPr>
              <a:t>Layers stack to produce your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BSP + OE-Core + community + your meta-product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663399"/>
                </a:solidFill>
                <a:latin typeface="Calibri"/>
              </a:rPr>
              <a:t>Recipes describe; BitBake executes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Recipe = metadata + tasks; BitBake builds the graph and runs 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663399"/>
                </a:solidFill>
                <a:latin typeface="Calibri"/>
              </a:rPr>
              <a:t>sstate cache makes scale tractable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333333"/>
                </a:solidFill>
                <a:latin typeface="Calibri"/>
              </a:rPr>
              <a:t>First build slow, every subsequent build fast shared across team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663399"/>
                </a:solidFill>
                <a:latin typeface="Calibri"/>
              </a:rPr>
              <a:t>MACHINE, DISTRO, IMAGE — the three steering wheels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333333"/>
                </a:solidFill>
                <a:latin typeface="Calibri"/>
              </a:rPr>
              <a:t>Hardware, policy, contents  independent and composable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b="1" dirty="0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dirty="0" err="1">
                <a:solidFill>
                  <a:srgbClr val="333333"/>
                </a:solidFill>
                <a:latin typeface="Calibri"/>
              </a:rPr>
              <a:t>BitBake</a:t>
            </a:r>
            <a:r>
              <a:rPr dirty="0">
                <a:solidFill>
                  <a:srgbClr val="333333"/>
                </a:solidFill>
                <a:latin typeface="Calibri"/>
              </a:rPr>
              <a:t> Deep Dive (75 min) Tasks, execution flow, variables, overrides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927</TotalTime>
  <Words>1770</Words>
  <Application>Microsoft Office PowerPoint</Application>
  <PresentationFormat>Widescreen</PresentationFormat>
  <Paragraphs>301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Yocto Architecture</vt:lpstr>
      <vt:lpstr>Session Agenda</vt:lpstr>
      <vt:lpstr>Why Yocto Exists</vt:lpstr>
      <vt:lpstr>The Yocto Project Ecosystem</vt:lpstr>
      <vt:lpstr>Poky :The Reference Build</vt:lpstr>
      <vt:lpstr>OpenEmbedded-Core (OE-Core)</vt:lpstr>
      <vt:lpstr>BitBake: The Build Engine</vt:lpstr>
      <vt:lpstr>Metadata Layers</vt:lpstr>
      <vt:lpstr>Recipes : The Building Blocks</vt:lpstr>
      <vt:lpstr>Tasks : The Execution Pipeline</vt:lpstr>
      <vt:lpstr>Dependencies : Build vs Runtime</vt:lpstr>
      <vt:lpstr>sstate Cache : Why Builds Get Faster</vt:lpstr>
      <vt:lpstr>MACHINE • DISTRO • IMAGE</vt:lpstr>
      <vt:lpstr>Putting It All Together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702</cp:revision>
  <dcterms:created xsi:type="dcterms:W3CDTF">2013-11-03T09:32:00Z</dcterms:created>
  <dcterms:modified xsi:type="dcterms:W3CDTF">2026-06-08T16:26:53Z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