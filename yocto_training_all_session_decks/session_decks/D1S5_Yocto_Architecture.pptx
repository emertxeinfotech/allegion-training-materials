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  <p:sldId id="1017" r:id="rId12"/>
    <p:sldId id="1018" r:id="rId13"/>
    <p:sldId id="1019" r:id="rId14"/>
    <p:sldId id="1020" r:id="rId15"/>
    <p:sldId id="1021" r:id="rId16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Yocto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Linux +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Yocto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Embedded Linux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 Why Yocto exists — the problem it solves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 The Yocto Project ecosystem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 Poky &amp; OpenEmbedded-Core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 BitBake — the build engine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 Metadata layers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6.  Recipes &amp; tasks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7.  Dependencies &amp; sstate cache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8.  MACHINE, DISTRO, IMAGE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9.  Putting it all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Why Yocto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666666"/>
                </a:solidFill>
                <a:latin typeface="Calibri"/>
              </a:rPr>
              <a:t>Without Yocto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51206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Every vendor maintains a custom rootfs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No standard layering or sharing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Kernel and toolchain upgrades are painful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"Works for this board" — porting is manual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Reproducibility depends on a tribal-knowledge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5448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CC0066"/>
                </a:solidFill>
                <a:latin typeface="Calibri"/>
              </a:rPr>
              <a:t>With Yocto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057400"/>
            <a:ext cx="51206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Standardized, layered framework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Reusable components (recipes, layers)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Reproducible builds — same input, same output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Scales from QEMU to production silicon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• Industry-adopted: NXP, TI, Xilinx, Bosch, Intel...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1500" b="1">
                <a:solidFill>
                  <a:srgbClr val="663399"/>
                </a:solidFill>
                <a:latin typeface="Calibri"/>
              </a:rPr>
              <a:t>Bottom line: Yocto is a build framework, not a distro. You compose your distro from layers.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The Yocto Project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These four things work together. People say "Yocto" loosely — strictly, they are distinct.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137160" cy="1828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C0066"/>
                </a:solidFill>
                <a:latin typeface="Calibri"/>
              </a:rPr>
              <a:t>Yocto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7548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Umbrella organization at the Linux Foundation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Coordinates the broader effort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Releases LTS schedules (Scarthgap = 5.0 LTS)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011680"/>
            <a:ext cx="137160" cy="182880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59" y="210312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63399"/>
                </a:solidFill>
                <a:latin typeface="Calibri"/>
              </a:rPr>
              <a:t>OpenEmbedded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514600"/>
            <a:ext cx="47548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The build system community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Maintains the recipe collection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Older than Yocto Project; Yocto adopted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4023360"/>
            <a:ext cx="137160" cy="182880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11480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63399"/>
                </a:solidFill>
                <a:latin typeface="Calibri"/>
              </a:rPr>
              <a:t>Poky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526280"/>
            <a:ext cx="47548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The reference build you actually download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Bundles BitBake + OE-Core + reference distro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Your starting point — clone this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23360"/>
            <a:ext cx="5120640" cy="182880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4023360"/>
            <a:ext cx="137160" cy="18288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59" y="4114800"/>
            <a:ext cx="475487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C0066"/>
                </a:solidFill>
                <a:latin typeface="Calibri"/>
              </a:rPr>
              <a:t>BitBake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526280"/>
            <a:ext cx="47548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The engine that reads metadata and builds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Like make + apt + git glued in Python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Lives inside poky/bitbake/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Poky — The Reference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What you download. What you build on top of.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CC0066"/>
                </a:solidFill>
                <a:latin typeface="Calibri"/>
              </a:rPr>
              <a:t>Inside poky/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5120640" cy="27432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73152" cy="27432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484632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poky/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bitbake/         # The build engine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meta/            # OpenEmbedded-Core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meta-poky/       # Reference distro config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meta-yocto-bsp/  # Reference BSPs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meta-selftest/   # Self-tests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meta-skeleton/   # Recipe templates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├── scripts/         # Helper scripts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└── documentation/   # Source for the manuals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92024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CC0066"/>
                </a:solidFill>
                <a:latin typeface="Calibri"/>
              </a:rPr>
              <a:t>Get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331720"/>
            <a:ext cx="5120640" cy="146304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2331720"/>
            <a:ext cx="73152" cy="146304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48463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i="1">
                <a:solidFill>
                  <a:srgbClr val="808080"/>
                </a:solidFill>
                <a:latin typeface="Consolas"/>
              </a:rPr>
              <a:t># Clone the LTS release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git clone -b scarthgap \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 git://git.yoctoproject.org/poky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cd poky</a:t>
            </a:r>
          </a:p>
          <a:p>
            <a:pPr>
              <a:spcAft>
                <a:spcPts val="0"/>
              </a:spcAft>
            </a:pPr>
            <a:r>
              <a:rPr sz="1200">
                <a:solidFill>
                  <a:srgbClr val="2D2D2D"/>
                </a:solidFill>
                <a:latin typeface="Consolas"/>
              </a:rPr>
              <a:t>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20"/>
            <a:ext cx="512064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663399"/>
                </a:solidFill>
                <a:latin typeface="Calibri"/>
              </a:rPr>
              <a:t>Poky is opinionated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It picks systemd, glibc, defaults you may not want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That's fine — you override via your own distro config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• In production you keep poky for the base, layer your policy on top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OpenEmbedded-Core (OE-Core)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The shared recipe foundation that both Poky and other distros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CC0066"/>
                </a:solidFill>
                <a:latin typeface="Calibri"/>
              </a:rPr>
              <a:t>Where it lives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poky/meta/  — that directory is OE-Core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CC0066"/>
                </a:solidFill>
                <a:latin typeface="Calibri"/>
              </a:rPr>
              <a:t>What's inside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Common recipes — busybox, glibc, openssh, systemd, perl, python3, ...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Toolchain machinery — cross-gcc, cross-binutils, sysroot setup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Common classes (.bbclass) — autotools, cmake, meson, kernel, module, image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Reference machines — qemux86, qemuarm, qemuarm64 (boards in meta-yocto-bsp)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CC0066"/>
                </a:solidFill>
                <a:latin typeface="Calibri"/>
              </a:rPr>
              <a:t>Maintained by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The OpenEmbedded community + Yocto Project — shared upstream</a:t>
            </a:r>
          </a:p>
          <a:p>
            <a:pPr>
              <a:spcAft>
                <a:spcPts val="400"/>
              </a:spcAft>
            </a:pPr>
            <a:r>
              <a:rPr sz="1800" b="1">
                <a:solidFill>
                  <a:srgbClr val="663399"/>
                </a:solidFill>
                <a:latin typeface="Calibri"/>
              </a:rPr>
              <a:t>Mental model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Poky = OE-Core + Yocto reference policies + BSP samples + BitBake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BitBake — The Build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Reads metadata, builds a task graph, executes it in parallel.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1206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Conceptually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Like make + apt + git + Python glue, purpose-built for cross-builds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Key behaviors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Parses .bb (recipes) and .conf files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Resolves dependencies between tasks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Caches task results in sstate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Schedules parallel execution across 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Common commands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2286000"/>
            <a:ext cx="512064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63640" y="228600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2377440"/>
            <a:ext cx="484632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Build an image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core-image-base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List a recipe's tasks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busybox -c listtasks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Drop into a build shell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-c devshell busybox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Show layers in use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bitbake-layers show-layers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See a recipe's expanded env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bitbake -e busybox | less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Metadata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Yocto's superpower — layers stack to compose your product.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1206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What a layer is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A directory containing recipes, configs, classes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Has a conf/layer.conf identifying it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Has a stable priority — higher overrides lower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How layers are activated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Listed in build/conf/bblayers.conf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Use bitbake-layers add-layer / remove-layer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Common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51206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663399"/>
                </a:solidFill>
                <a:latin typeface="Calibri"/>
              </a:rPr>
              <a:t>meta-openembedded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Thousands of extra recipes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3399"/>
                </a:solidFill>
                <a:latin typeface="Calibri"/>
              </a:rPr>
              <a:t>meta-raspberrypi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RPi BSP layer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3399"/>
                </a:solidFill>
                <a:latin typeface="Calibri"/>
              </a:rPr>
              <a:t>meta-virtualization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Docker, containers, KVM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3399"/>
                </a:solidFill>
                <a:latin typeface="Calibri"/>
              </a:rPr>
              <a:t>meta-security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Hardening tools, IMA, AppArmor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CC0066"/>
                </a:solidFill>
                <a:latin typeface="Calibri"/>
              </a:rPr>
              <a:t>meta-yourproduct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Your layer — you'll build one in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613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663399"/>
                </a:solidFill>
                <a:latin typeface="Calibri"/>
              </a:rPr>
              <a:t>Layers are how vendor BSPs, community recipes, and your product code live side-by-side without stepping on each other.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Recipes — The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A recipe (.bb file) describes how to build ONE piece of software.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Key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onsolas"/>
              </a:rPr>
              <a:t>SRC_URI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Where to fetch the source from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onsolas"/>
              </a:rPr>
              <a:t>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Where the source extracts to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onsolas"/>
              </a:rPr>
              <a:t>LICENSE / LIC_FILES_CHKSUM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What license + checksum to verify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onsolas"/>
              </a:rPr>
              <a:t>do_compile / do_install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Tasks to execute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onsolas"/>
              </a:rPr>
              <a:t>FILES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What goes into the package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onsolas"/>
              </a:rPr>
              <a:t>DEPENDS / RDEPENDS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Build / runtime 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87451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Example: busybox recipe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286000"/>
            <a:ext cx="512064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377440"/>
            <a:ext cx="484632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SUMMARY = "Tiny versions of UNIX utilities"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DESCRIPTION = "BusyBox combines tiny ..."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LICENSE = "GPL-2.0-only"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HOMEPAGE = "https://busybox.net"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SRC_URI = "https://busybox.net/downloads/\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  busybox-${PV}.tar.bz2"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 = "${WORKDIR}/busybox-${PV}"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DEPENDS += "kern-tools-native"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inherit cml1 systemd update-rc.d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Tasks: do_configure, do_compile, do_install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inherited from cml1 + custom logic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Tasks — The Execution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Each recipe runs a standard chain of tasks. BitBake schedules them.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do_fetch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Get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1368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do_unpack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1368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Extract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5536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5536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Apply patches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9704" y="2103120"/>
            <a:ext cx="1298448" cy="64008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do_configure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Configure build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33872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do_compile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3872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Compile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Install to staging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22208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Create packages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66376" y="2103120"/>
            <a:ext cx="1298448" cy="64008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000" b="1">
                <a:solidFill>
                  <a:srgbClr val="663399"/>
                </a:solidFill>
                <a:latin typeface="Consolas"/>
              </a:rPr>
              <a:t>do_image*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66376" y="2788920"/>
            <a:ext cx="129844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Calibri"/>
              </a:rPr>
              <a:t>Build 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57600"/>
            <a:ext cx="105156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CC0066"/>
                </a:solidFill>
                <a:latin typeface="Calibri"/>
              </a:rPr>
              <a:t>Useful tips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Each task is a Python or shell function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• Inspect at any step: bitbake busybox -c devshell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onsolas"/>
              </a:rPr>
              <a:t>• Re-run one task: bitbake busybox -c compile -f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Custom tasks added via addtask in recipe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Dependencies — Build vs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Two kinds of dependencies. Confusing them breaks devices in the field.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CC0066"/>
                </a:solidFill>
                <a:latin typeface="Calibri"/>
              </a:rPr>
              <a:t>DEPENDS (build-time)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"I need this to compile"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Resolved before do_compile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Names refer to other recipes' BPN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Pulls headers, libraries, tools into sysroot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63399"/>
                </a:solidFill>
                <a:latin typeface="Calibri"/>
              </a:rPr>
              <a:t>Example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DEPENDS = "openssl zlib libxml2"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These provide build-time headers; nothing ships from them on target.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74519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663399"/>
                </a:solidFill>
                <a:latin typeface="Calibri"/>
              </a:rPr>
              <a:t>RDEPENDS (runtime)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9377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333333"/>
                </a:solidFill>
                <a:latin typeface="Calibri"/>
              </a:rPr>
              <a:t>"My package needs this on the device"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Resolved at packaging time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Names refer to package names (PN)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Pulls runtime libs into the rootfs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CC0066"/>
                </a:solidFill>
                <a:latin typeface="Calibri"/>
              </a:rPr>
              <a:t>Example</a:t>
            </a:r>
          </a:p>
          <a:p>
            <a:pPr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Consolas"/>
              </a:rPr>
              <a:t>RDEPENDS:${PN} = "openssl python3-core"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Without this, your app installs but fails at runtime with missing libraries.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61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C0066"/>
                </a:solidFill>
                <a:latin typeface="Calibri"/>
              </a:rPr>
              <a:t>Tip: 90% of "works on my host, fails on target" bugs trace back to missing RDEPENDS.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sstate Cache — Why Builds Get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The single feature that makes Yocto practical at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594360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CC0066"/>
                </a:solidFill>
                <a:latin typeface="Calibri"/>
              </a:rPr>
              <a:t>How it works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Every task gets a signature — a hash of all its inputs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Inputs include: source content, config vars, recipe content, dependencies' hashes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Task result is cached by signature in SSTATE_DIR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CC0066"/>
                </a:solidFill>
                <a:latin typeface="Calibri"/>
              </a:rPr>
              <a:t>What you see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First build of an image: 4–8 hours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Rebuild with no changes: a few seconds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Change one recipe: rebuild only that + downstream tasks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CC0066"/>
                </a:solidFill>
                <a:latin typeface="Calibri"/>
              </a:rPr>
              <a:t>Why teams care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Set up a shared sstate mirror — everyone benefits from one teammate's build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• CI builds become incremental, not full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874519"/>
            <a:ext cx="4389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CC0066"/>
                </a:solidFill>
                <a:latin typeface="Calibri"/>
              </a:rPr>
              <a:t>Configuration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2286000"/>
            <a:ext cx="438912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040880" y="228600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60" y="2377440"/>
            <a:ext cx="41148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In conf/local.conf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SSTATE_DIR = \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"${HOME}/yocto/sstate-cache"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Shared team mirror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SSTATE_MIRRORS = "\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file://.* \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 http://build/sstate/PATH"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Number of build threads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BB_NUMBER_THREADS = "8"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MACHINE • DISTRO •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Three independent variables that compose your final build.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MACHINE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 hardware?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514600"/>
            <a:ext cx="35204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606039"/>
            <a:ext cx="33375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C0066"/>
                </a:solidFill>
                <a:latin typeface="Calibri"/>
              </a:rPr>
              <a:t>Set in local.conf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63399"/>
                </a:solidFill>
                <a:latin typeface="Consolas"/>
              </a:rPr>
              <a:t>MACHINE = "raspberrypi4-64"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663399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raspberrypi4-64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qemux86-64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beaglebone-yocto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imx8mp-evk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C0066"/>
                </a:solidFill>
                <a:latin typeface="Calibri"/>
              </a:rPr>
              <a:t>Provided by BSP layers.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Defines CPU arch, boot params, storage layout, devicetree.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74519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DISTRO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 policy?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514600"/>
            <a:ext cx="35204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606039"/>
            <a:ext cx="33375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alibri"/>
              </a:rPr>
              <a:t>Set in local.conf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63399"/>
                </a:solidFill>
                <a:latin typeface="Consolas"/>
              </a:rPr>
              <a:t>DISTRO = "poky"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663399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poky (default)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poky-tiny (small)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yourcompany-distro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63399"/>
                </a:solidFill>
                <a:latin typeface="Calibri"/>
              </a:rPr>
              <a:t>Provided by distro layers.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Defines init system, libc choice, package manager defaults, features.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874519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IMAGE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 contents?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514600"/>
            <a:ext cx="3520440" cy="338328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06039"/>
            <a:ext cx="333756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C0066"/>
                </a:solidFill>
                <a:latin typeface="Calibri"/>
              </a:rPr>
              <a:t>Passed to bitbake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663399"/>
                </a:solidFill>
                <a:latin typeface="Consolas"/>
              </a:rPr>
              <a:t>bitbake your-image</a:t>
            </a:r>
          </a:p>
          <a:p>
            <a:pPr>
              <a:spcAft>
                <a:spcPts val="400"/>
              </a:spcAft>
            </a:pPr>
            <a:endParaRPr sz="1000" b="0">
              <a:solidFill>
                <a:srgbClr val="663399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C0066"/>
                </a:solidFill>
                <a:latin typeface="Calibri"/>
              </a:rPr>
              <a:t>Examples: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core-image-minimal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core-image-base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core-image-full-cmdline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• yourproduct-image</a:t>
            </a:r>
          </a:p>
          <a:p>
            <a:pPr>
              <a:spcAft>
                <a:spcPts val="400"/>
              </a:spcAft>
            </a:pPr>
            <a:endParaRPr sz="1100" b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CC0066"/>
                </a:solidFill>
                <a:latin typeface="Calibri"/>
              </a:rPr>
              <a:t>A recipe in itself.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Defines which packages get installed in the rootfs.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5613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663399"/>
                </a:solidFill>
                <a:latin typeface="Calibri"/>
              </a:rPr>
              <a:t>Change MACHINE to retarget the hardware. Change DISTRO to retarget the policy. Change IMAGE to retarget the product.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Putting It All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From `bitbake your-image` to a bootable artifact — the journey.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92024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5681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You write/clone layers (vendor BSP, OE-Core, meta-yourproduct)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2316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5973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You configure bblayers.conf and local.conf (MACHINE, DISTRO)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92608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6265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You run: bitbake your-image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2900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46557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BitBake parses all .bb files in active layers, builds the task graph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93192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Tasks execute in dependency order, in parallel, on cached or fresh inputs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3484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47141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sstate caches each task's output — speed compounds across builds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937760"/>
            <a:ext cx="411480" cy="411480"/>
          </a:xfrm>
          <a:prstGeom prst="ellipse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7433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do_image_* tasks assemble the rootfs into your final image format (wic, ext4, etc.)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40680"/>
            <a:ext cx="411480" cy="411480"/>
          </a:xfrm>
          <a:prstGeom prst="ellipse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477256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3333"/>
                </a:solidFill>
                <a:latin typeface="Calibri"/>
              </a:rPr>
              <a:t>Artifact lands in tmp/deploy/images/${MACHINE}/  — bootable, flashable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Calibri"/>
              </a:rPr>
              <a:t>Five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Yocto is a framework, not a distro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You compose your distro from layers; you don't install "Yocto"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Layers stack to produce your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BSP + OE-Core + community + your meta-product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Recipes describe; BitBake executes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Recipe = metadata + tasks; BitBake builds the graph and runs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sstate cache makes scale tractable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First build slow, every subsequent build fast — shared across 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663399"/>
                </a:solidFill>
                <a:latin typeface="Calibri"/>
              </a:rPr>
              <a:t>MACHINE, DISTRO, IMAGE — the three steering wheels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Hardware, policy, contents — independent and composable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BitBake Deep Dive (75 min)  — Tasks, execution flow, variables, overrides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</TotalTime>
  <Words>1775</Words>
  <Application>Microsoft Office PowerPoint</Application>
  <PresentationFormat>Widescreen</PresentationFormat>
  <Paragraphs>301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Yocto Architecture</vt:lpstr>
      <vt:lpstr>Session Agenda</vt:lpstr>
      <vt:lpstr>Why Yocto Exists</vt:lpstr>
      <vt:lpstr>The Yocto Project Ecosystem</vt:lpstr>
      <vt:lpstr>Poky — The Reference Build</vt:lpstr>
      <vt:lpstr>OpenEmbedded-Core (OE-Core)</vt:lpstr>
      <vt:lpstr>BitBake — The Build Engine</vt:lpstr>
      <vt:lpstr>Metadata Layers</vt:lpstr>
      <vt:lpstr>Recipes — The Building Blocks</vt:lpstr>
      <vt:lpstr>Tasks — The Execution Pipeline</vt:lpstr>
      <vt:lpstr>Dependencies — Build vs Runtime</vt:lpstr>
      <vt:lpstr>sstate Cache — Why Builds Get Faster</vt:lpstr>
      <vt:lpstr>MACHINE • DISTRO • IMAGE</vt:lpstr>
      <vt:lpstr>Putting It All Together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2026-05-30T10:26:30Z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