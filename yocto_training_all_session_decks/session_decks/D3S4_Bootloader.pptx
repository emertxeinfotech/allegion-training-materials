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007" r:id="rId2"/>
    <p:sldId id="1008" r:id="rId3"/>
    <p:sldId id="1009" r:id="rId4"/>
    <p:sldId id="1010" r:id="rId5"/>
    <p:sldId id="1011" r:id="rId6"/>
    <p:sldId id="1012" r:id="rId7"/>
    <p:sldId id="1013" r:id="rId8"/>
    <p:sldId id="1014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65" d="100"/>
          <a:sy n="65" d="100"/>
        </p:scale>
        <p:origin x="640" y="52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Bootloader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dirty="0">
                <a:solidFill>
                  <a:srgbClr val="FFFFFF"/>
                </a:solidFill>
                <a:latin typeface="Calibri"/>
              </a:rPr>
              <a:t>U-Boot, EFI, GRUB — where kernel meets 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What a bootloader does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Three families — U-Boot, EFI, GRUB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When to use which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How Yocto handles bootloader config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Boot arguments — passing info to the kernel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What a Bootloader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The bridge from power-on to a running kernel.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" y="2103120"/>
            <a:ext cx="2249424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Power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" y="2788920"/>
            <a:ext cx="22494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Reset vector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4620" y="2103120"/>
            <a:ext cx="2249424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ROM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4620" y="2788920"/>
            <a:ext cx="22494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Vendor first-stage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69764" y="2103120"/>
            <a:ext cx="2249424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SPL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69764" y="2788920"/>
            <a:ext cx="22494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Second-stage loader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4907" y="2103120"/>
            <a:ext cx="2249424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U-Boot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4907" y="2788920"/>
            <a:ext cx="22494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Full bootloader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60051" y="2103120"/>
            <a:ext cx="2249424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0051" y="2788920"/>
            <a:ext cx="224942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Linux takes 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264309"/>
            <a:ext cx="10515600" cy="226215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What the bootloader actually does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Init DRAM, clocks, basic peripherals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Load the kernel image into RAM from flash/SD/eMMC/network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Load the device tree blob (DTB)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Pass boot arguments to the kernel</a:t>
            </a:r>
          </a:p>
          <a:p>
            <a:pPr>
              <a:spcAft>
                <a:spcPts val="8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Jump to the kernel entry point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333333"/>
                </a:solidFill>
                <a:latin typeface="Calibri"/>
              </a:rPr>
              <a:t>From there, the kernel runs </a:t>
            </a:r>
            <a:r>
              <a:rPr sz="1600" b="0" i="1" dirty="0" err="1">
                <a:solidFill>
                  <a:srgbClr val="333333"/>
                </a:solidFill>
                <a:latin typeface="Calibri"/>
              </a:rPr>
              <a:t>init</a:t>
            </a:r>
            <a:r>
              <a:rPr sz="1600" b="0" i="1" dirty="0">
                <a:solidFill>
                  <a:srgbClr val="333333"/>
                </a:solidFill>
                <a:latin typeface="Calibri"/>
              </a:rPr>
              <a:t>, mounts the </a:t>
            </a:r>
            <a:r>
              <a:rPr sz="1600" b="0" i="1" dirty="0" err="1">
                <a:solidFill>
                  <a:srgbClr val="333333"/>
                </a:solidFill>
                <a:latin typeface="Calibri"/>
              </a:rPr>
              <a:t>rootfs</a:t>
            </a:r>
            <a:r>
              <a:rPr sz="1600" b="0" i="1" dirty="0">
                <a:solidFill>
                  <a:srgbClr val="333333"/>
                </a:solidFill>
                <a:latin typeface="Calibri"/>
              </a:rPr>
              <a:t>, starts </a:t>
            </a:r>
            <a:r>
              <a:rPr sz="1600" b="0" i="1" dirty="0" err="1">
                <a:solidFill>
                  <a:srgbClr val="333333"/>
                </a:solidFill>
                <a:latin typeface="Calibri"/>
              </a:rPr>
              <a:t>systemd</a:t>
            </a:r>
            <a:r>
              <a:rPr sz="1600" b="0" i="1" dirty="0">
                <a:solidFill>
                  <a:srgbClr val="333333"/>
                </a:solidFill>
                <a:latin typeface="Calibri"/>
              </a:rPr>
              <a:t>, and you have a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Three Bootloader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Different problems, different tools.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U-Boot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Embedded 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333424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What: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Configurable bootloader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with shell and scripts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Used on: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Most ARM SoCs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Most embedded products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Strengths: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Flexible, scriptable,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supports many storage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and network protocols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EFI / UEFI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x86/ARM server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360098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What: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Firmware spec, not 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single loader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Used on: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x86 desktops/servers,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newer ARM platforms,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RPi5 (optional)</a:t>
            </a:r>
          </a:p>
          <a:p>
            <a:pPr>
              <a:spcAft>
                <a:spcPts val="400"/>
              </a:spcAft>
            </a:pPr>
            <a:endParaRPr sz="14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Strengths: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Secure Boot,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standardized,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GPT partitioning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GRUB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Distro classic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333424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 dirty="0">
                <a:solidFill>
                  <a:srgbClr val="CC0066"/>
                </a:solidFill>
                <a:latin typeface="Calibri"/>
              </a:rPr>
              <a:t>What:</a:t>
            </a:r>
          </a:p>
          <a:p>
            <a:pPr>
              <a:spcAft>
                <a:spcPts val="400"/>
              </a:spcAft>
            </a:pPr>
            <a:r>
              <a:rPr sz="1400" b="0" i="0" dirty="0">
                <a:solidFill>
                  <a:srgbClr val="333333"/>
                </a:solidFill>
                <a:latin typeface="Calibri"/>
              </a:rPr>
              <a:t>The Linux distro</a:t>
            </a:r>
          </a:p>
          <a:p>
            <a:pPr>
              <a:spcAft>
                <a:spcPts val="400"/>
              </a:spcAft>
            </a:pPr>
            <a:r>
              <a:rPr sz="1400" b="0" i="0" dirty="0">
                <a:solidFill>
                  <a:srgbClr val="333333"/>
                </a:solidFill>
                <a:latin typeface="Calibri"/>
              </a:rPr>
              <a:t>bootloader</a:t>
            </a:r>
          </a:p>
          <a:p>
            <a:pPr>
              <a:spcAft>
                <a:spcPts val="400"/>
              </a:spcAft>
            </a:pPr>
            <a:endParaRPr sz="14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 dirty="0">
                <a:solidFill>
                  <a:srgbClr val="CC0066"/>
                </a:solidFill>
                <a:latin typeface="Calibri"/>
              </a:rPr>
              <a:t>Used on:</a:t>
            </a:r>
          </a:p>
          <a:p>
            <a:pPr>
              <a:spcAft>
                <a:spcPts val="400"/>
              </a:spcAft>
            </a:pPr>
            <a:r>
              <a:rPr sz="1400" b="0" i="0" dirty="0">
                <a:solidFill>
                  <a:srgbClr val="333333"/>
                </a:solidFill>
                <a:latin typeface="Calibri"/>
              </a:rPr>
              <a:t>x86 servers, full</a:t>
            </a:r>
          </a:p>
          <a:p>
            <a:pPr>
              <a:spcAft>
                <a:spcPts val="400"/>
              </a:spcAft>
            </a:pPr>
            <a:r>
              <a:rPr sz="1400" b="0" i="0" dirty="0">
                <a:solidFill>
                  <a:srgbClr val="333333"/>
                </a:solidFill>
                <a:latin typeface="Calibri"/>
              </a:rPr>
              <a:t>desktop-like systems</a:t>
            </a:r>
          </a:p>
          <a:p>
            <a:pPr>
              <a:spcAft>
                <a:spcPts val="400"/>
              </a:spcAft>
            </a:pPr>
            <a:endParaRPr sz="14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1" i="0" dirty="0">
                <a:solidFill>
                  <a:srgbClr val="CC0066"/>
                </a:solidFill>
                <a:latin typeface="Calibri"/>
              </a:rPr>
              <a:t>Strengths:</a:t>
            </a:r>
          </a:p>
          <a:p>
            <a:pPr>
              <a:spcAft>
                <a:spcPts val="400"/>
              </a:spcAft>
            </a:pPr>
            <a:r>
              <a:rPr sz="1400" b="0" i="0" dirty="0">
                <a:solidFill>
                  <a:srgbClr val="333333"/>
                </a:solidFill>
                <a:latin typeface="Calibri"/>
              </a:rPr>
              <a:t>Multi-OS boot menus,</a:t>
            </a:r>
          </a:p>
          <a:p>
            <a:pPr>
              <a:spcAft>
                <a:spcPts val="400"/>
              </a:spcAft>
            </a:pPr>
            <a:r>
              <a:rPr sz="1400" b="0" i="0" dirty="0">
                <a:solidFill>
                  <a:srgbClr val="333333"/>
                </a:solidFill>
                <a:latin typeface="Calibri"/>
              </a:rPr>
              <a:t>filesystem support,</a:t>
            </a:r>
          </a:p>
          <a:p>
            <a:pPr>
              <a:spcAft>
                <a:spcPts val="400"/>
              </a:spcAft>
            </a:pPr>
            <a:r>
              <a:rPr sz="1400" b="0" i="0" dirty="0">
                <a:solidFill>
                  <a:srgbClr val="333333"/>
                </a:solidFill>
                <a:latin typeface="Calibri"/>
              </a:rPr>
              <a:t>well-known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When to Use Which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Match the loader to the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1148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Pick U-Boot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190308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Custom ARM hardware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Need flexible boot scripts (A/B updates, fallback)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Need TFTP/NFS boot for dev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Tight flash budgets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Typical example</a:t>
            </a:r>
          </a:p>
          <a:p>
            <a:pPr>
              <a:spcAft>
                <a:spcPts val="400"/>
              </a:spcAft>
            </a:pPr>
            <a:r>
              <a:rPr sz="1600" b="0" i="1">
                <a:solidFill>
                  <a:srgbClr val="333333"/>
                </a:solidFill>
                <a:latin typeface="Calibri"/>
              </a:rPr>
              <a:t>i.MX, BeagleBone, custom industrial gateways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1148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Pick EFI/GRUB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190308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x86_64 hardware (server, intel NUC, etc.)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Need Secure Boot certified by Microsoft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Multi-OS boot or distro-style menus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• Lots of disk space, no flash constraints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Typical example</a:t>
            </a:r>
          </a:p>
          <a:p>
            <a:pPr>
              <a:spcAft>
                <a:spcPts val="400"/>
              </a:spcAft>
            </a:pPr>
            <a:r>
              <a:rPr sz="1600" b="0" i="1">
                <a:solidFill>
                  <a:srgbClr val="333333"/>
                </a:solidFill>
                <a:latin typeface="Calibri"/>
              </a:rPr>
              <a:t>Edge servers, industrial PCs, infotainment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 err="1">
                <a:latin typeface="Calibri"/>
              </a:rPr>
              <a:t>Yocto</a:t>
            </a:r>
            <a:r>
              <a:rPr sz="3200" b="1" dirty="0">
                <a:latin typeface="Calibri"/>
              </a:rPr>
              <a:t> Bootloader 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How U-Boot config flows from machine.conf to flashed device.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341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200" i="1" dirty="0">
                <a:solidFill>
                  <a:srgbClr val="808080"/>
                </a:solidFill>
                <a:latin typeface="Consolas"/>
              </a:rPr>
              <a:t># In meta-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yourbsp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/conf/machine/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yourboard.conf</a:t>
            </a:r>
            <a:endParaRPr sz="1200" i="1" dirty="0">
              <a:solidFill>
                <a:srgbClr val="808080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200" dirty="0" err="1">
                <a:solidFill>
                  <a:srgbClr val="2D2D2D"/>
                </a:solidFill>
                <a:latin typeface="Consolas"/>
              </a:rPr>
              <a:t>PREFERRED_PROVIDER_virtual</a:t>
            </a:r>
            <a:r>
              <a:rPr sz="1200" dirty="0">
                <a:solidFill>
                  <a:srgbClr val="2D2D2D"/>
                </a:solidFill>
                <a:latin typeface="Consolas"/>
              </a:rPr>
              <a:t>/bootloader = "u-boot"</a:t>
            </a:r>
          </a:p>
          <a:p>
            <a:pPr>
              <a:spcAft>
                <a:spcPts val="0"/>
              </a:spcAft>
            </a:pPr>
            <a:r>
              <a:rPr sz="1200" dirty="0">
                <a:solidFill>
                  <a:srgbClr val="2D2D2D"/>
                </a:solidFill>
                <a:latin typeface="Consolas"/>
              </a:rPr>
              <a:t>UBOOT_MACHINE = "</a:t>
            </a:r>
            <a:r>
              <a:rPr sz="1200" dirty="0" err="1">
                <a:solidFill>
                  <a:srgbClr val="2D2D2D"/>
                </a:solidFill>
                <a:latin typeface="Consolas"/>
              </a:rPr>
              <a:t>yourboard_defconfig</a:t>
            </a:r>
            <a:r>
              <a:rPr sz="1200" dirty="0">
                <a:solidFill>
                  <a:srgbClr val="2D2D2D"/>
                </a:solidFill>
                <a:latin typeface="Consolas"/>
              </a:rPr>
              <a:t>"</a:t>
            </a:r>
          </a:p>
          <a:p>
            <a:pPr>
              <a:spcAft>
                <a:spcPts val="0"/>
              </a:spcAft>
            </a:pPr>
            <a:r>
              <a:rPr sz="12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 dirty="0">
                <a:solidFill>
                  <a:srgbClr val="808080"/>
                </a:solidFill>
                <a:latin typeface="Consolas"/>
              </a:rPr>
              <a:t># U-Boot recipe is provided by 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Yocto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 or the BSP</a:t>
            </a:r>
          </a:p>
          <a:p>
            <a:pPr>
              <a:spcAft>
                <a:spcPts val="0"/>
              </a:spcAft>
            </a:pPr>
            <a:r>
              <a:rPr sz="1200" i="1" dirty="0">
                <a:solidFill>
                  <a:srgbClr val="808080"/>
                </a:solidFill>
                <a:latin typeface="Consolas"/>
              </a:rPr>
              <a:t># 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bitbake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 u-boot</a:t>
            </a:r>
          </a:p>
          <a:p>
            <a:pPr>
              <a:spcAft>
                <a:spcPts val="0"/>
              </a:spcAft>
            </a:pPr>
            <a:r>
              <a:rPr sz="1200" i="1" dirty="0">
                <a:solidFill>
                  <a:srgbClr val="808080"/>
                </a:solidFill>
                <a:latin typeface="Consolas"/>
              </a:rPr>
              <a:t># Output: 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tmp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/deploy/images/${MACHINE}/u-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boot.bin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 (or u-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boot.imx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, etc.)</a:t>
            </a:r>
          </a:p>
          <a:p>
            <a:pPr>
              <a:spcAft>
                <a:spcPts val="0"/>
              </a:spcAft>
            </a:pPr>
            <a:r>
              <a:rPr sz="12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 dirty="0">
                <a:solidFill>
                  <a:srgbClr val="808080"/>
                </a:solidFill>
                <a:latin typeface="Consolas"/>
              </a:rPr>
              <a:t># Boot arguments passed to kernel </a:t>
            </a:r>
            <a:r>
              <a:rPr lang="en-IN" sz="1200" i="1" dirty="0">
                <a:solidFill>
                  <a:srgbClr val="808080"/>
                </a:solidFill>
                <a:latin typeface="Consolas"/>
              </a:rPr>
              <a:t>-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 define in 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machine.conf</a:t>
            </a:r>
            <a:endParaRPr sz="1200" i="1" dirty="0">
              <a:solidFill>
                <a:srgbClr val="808080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200" dirty="0">
                <a:solidFill>
                  <a:srgbClr val="2D2D2D"/>
                </a:solidFill>
                <a:latin typeface="Consolas"/>
              </a:rPr>
              <a:t>APPEND += "root=/dev/mmcblk0p2 </a:t>
            </a:r>
            <a:r>
              <a:rPr sz="1200" dirty="0" err="1">
                <a:solidFill>
                  <a:srgbClr val="2D2D2D"/>
                </a:solidFill>
                <a:latin typeface="Consolas"/>
              </a:rPr>
              <a:t>rootwait</a:t>
            </a:r>
            <a:r>
              <a:rPr sz="1200" dirty="0">
                <a:solidFill>
                  <a:srgbClr val="2D2D2D"/>
                </a:solidFill>
                <a:latin typeface="Consolas"/>
              </a:rPr>
              <a:t> console=ttyS0,115200"</a:t>
            </a:r>
          </a:p>
          <a:p>
            <a:pPr>
              <a:spcAft>
                <a:spcPts val="0"/>
              </a:spcAft>
            </a:pPr>
            <a:r>
              <a:rPr sz="12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 dirty="0">
                <a:solidFill>
                  <a:srgbClr val="808080"/>
                </a:solidFill>
                <a:latin typeface="Consolas"/>
              </a:rPr>
              <a:t># WIC kickstart wires bootloader + kernel + 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rootfs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 into a 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flashable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 image</a:t>
            </a:r>
          </a:p>
          <a:p>
            <a:pPr>
              <a:spcAft>
                <a:spcPts val="0"/>
              </a:spcAft>
            </a:pPr>
            <a:r>
              <a:rPr sz="1200" dirty="0">
                <a:solidFill>
                  <a:srgbClr val="2D2D2D"/>
                </a:solidFill>
                <a:latin typeface="Consolas"/>
              </a:rPr>
              <a:t>WKS_FILE = "</a:t>
            </a:r>
            <a:r>
              <a:rPr sz="1200" dirty="0" err="1">
                <a:solidFill>
                  <a:srgbClr val="2D2D2D"/>
                </a:solidFill>
                <a:latin typeface="Consolas"/>
              </a:rPr>
              <a:t>yourboard.wks</a:t>
            </a:r>
            <a:r>
              <a:rPr sz="1200" dirty="0">
                <a:solidFill>
                  <a:srgbClr val="2D2D2D"/>
                </a:solidFill>
                <a:latin typeface="Consolas"/>
              </a:rPr>
              <a:t>"</a:t>
            </a:r>
          </a:p>
          <a:p>
            <a:pPr>
              <a:spcAft>
                <a:spcPts val="0"/>
              </a:spcAft>
            </a:pPr>
            <a:r>
              <a:rPr sz="12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i="1" dirty="0">
                <a:solidFill>
                  <a:srgbClr val="808080"/>
                </a:solidFill>
                <a:latin typeface="Consolas"/>
              </a:rPr>
              <a:t># 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yourboard.wks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 example:</a:t>
            </a:r>
          </a:p>
          <a:p>
            <a:pPr>
              <a:spcAft>
                <a:spcPts val="0"/>
              </a:spcAft>
            </a:pPr>
            <a:r>
              <a:rPr sz="1200" i="1" dirty="0">
                <a:solidFill>
                  <a:srgbClr val="808080"/>
                </a:solidFill>
                <a:latin typeface="Consolas"/>
              </a:rPr>
              <a:t>#   part u-boot --source 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rawcopy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 --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sourceparams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="file=u-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boot.bin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" --no-table</a:t>
            </a:r>
          </a:p>
          <a:p>
            <a:pPr>
              <a:spcAft>
                <a:spcPts val="0"/>
              </a:spcAft>
            </a:pPr>
            <a:r>
              <a:rPr sz="1200" i="1" dirty="0">
                <a:solidFill>
                  <a:srgbClr val="808080"/>
                </a:solidFill>
                <a:latin typeface="Consolas"/>
              </a:rPr>
              <a:t>#   part /boot --source 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bootimg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-partition --align 4 --fixed-size 32M --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fstype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=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vfat</a:t>
            </a:r>
            <a:endParaRPr sz="1200" i="1" dirty="0">
              <a:solidFill>
                <a:srgbClr val="808080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200" i="1" dirty="0">
                <a:solidFill>
                  <a:srgbClr val="808080"/>
                </a:solidFill>
                <a:latin typeface="Consolas"/>
              </a:rPr>
              <a:t>#   part /     --source 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rootfs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 --</a:t>
            </a:r>
            <a:r>
              <a:rPr sz="1200" i="1" dirty="0" err="1">
                <a:solidFill>
                  <a:srgbClr val="808080"/>
                </a:solidFill>
                <a:latin typeface="Consolas"/>
              </a:rPr>
              <a:t>fstype</a:t>
            </a:r>
            <a:r>
              <a:rPr sz="1200" i="1" dirty="0">
                <a:solidFill>
                  <a:srgbClr val="808080"/>
                </a:solidFill>
                <a:latin typeface="Consolas"/>
              </a:rPr>
              <a:t>=ext4 --align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Boot 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How you tell the kernel about the device.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39703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Common boot args you'll set in APPEND or via U-Boot bootargs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console=ttyS0,115200     # where kernel prints (serial port)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root=/dev/mmcblk0p2      # where rootfs lives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rootwait                 # wait for storage to appear before mounting root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rootfstype=ext4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quiet                    # suppress most kernel messages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loglevel=4               # 0=silent, 7=verbose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earlycon                 # enable early console before normal one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ro                       # mount rootfs read-only initially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For debugging: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initcall_debug           # show every init call's timing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debug                    # very verbose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ignore_loglevel          # show all kernel messages regardless of loglevel=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View at runtime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cat /proc/cmdline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Bootloader connects firmware to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Init hardware, load kernel + DT + initramfs, pass arguments, jump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Three families: U-Boot for embedded, EFI for x86, GRUB for distros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Pick by platform — U-Boot dominates ARM embedded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Yocto provides u-boot recipe, wires via machine.conf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PREFERRED_PROVIDER + UBOOT_MACHINE + WKS_FILE = end-to-end flash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Boot arguments live in APPEND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console, root, rootwait, loglevel — these four cover most needs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/proc/cmdline shows what booted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First thing to check when boot behavior looks wrong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00" b="1" dirty="0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Image Engineering </a:t>
            </a:r>
            <a:r>
              <a:rPr lang="en-IN" sz="1400" dirty="0">
                <a:solidFill>
                  <a:srgbClr val="333333"/>
                </a:solidFill>
                <a:latin typeface="Calibri"/>
              </a:rPr>
              <a:t>-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WIC, partitions, filesystems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806</Words>
  <Application>Microsoft Office PowerPoint</Application>
  <PresentationFormat>Widescreen</PresentationFormat>
  <Paragraphs>146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Consolas</vt:lpstr>
      <vt:lpstr>Trebuchet MS</vt:lpstr>
      <vt:lpstr>Wingdings</vt:lpstr>
      <vt:lpstr>Office Theme</vt:lpstr>
      <vt:lpstr>Bootloader Overview</vt:lpstr>
      <vt:lpstr>Session Agenda</vt:lpstr>
      <vt:lpstr>What a Bootloader Does</vt:lpstr>
      <vt:lpstr>Three Bootloader Families</vt:lpstr>
      <vt:lpstr>When to Use Which</vt:lpstr>
      <vt:lpstr>Yocto Bootloader Wiring</vt:lpstr>
      <vt:lpstr>Boot Arguments</vt:lpstr>
      <vt:lpstr>Session Summary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biju mk</cp:lastModifiedBy>
  <cp:revision>691</cp:revision>
  <dcterms:created xsi:type="dcterms:W3CDTF">2013-11-03T09:32:00Z</dcterms:created>
  <dcterms:modified xsi:type="dcterms:W3CDTF">2026-06-11T06:39:34Z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