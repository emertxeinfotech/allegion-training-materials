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2"/>
    <p:sldId id="1008" r:id="rId3"/>
    <p:sldId id="1009" r:id="rId4"/>
    <p:sldId id="1010" r:id="rId5"/>
    <p:sldId id="1011" r:id="rId6"/>
    <p:sldId id="1012" r:id="rId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52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solidFill>
                  <a:srgbClr val="FFFFFF"/>
                </a:solidFill>
                <a:latin typeface="Calibri"/>
              </a:rPr>
              <a:t>Welcome &amp; 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1800" dirty="0">
                <a:solidFill>
                  <a:srgbClr val="FFFFFF"/>
                </a:solidFill>
              </a:rPr>
              <a:t>Linux + </a:t>
            </a:r>
            <a:r>
              <a:rPr sz="1800" dirty="0" err="1">
                <a:solidFill>
                  <a:srgbClr val="FFFFFF"/>
                </a:solidFill>
              </a:rPr>
              <a:t>Yocto</a:t>
            </a:r>
            <a:r>
              <a:rPr sz="1800" dirty="0">
                <a:solidFill>
                  <a:srgbClr val="FFFFFF"/>
                </a:solidFill>
              </a:rPr>
              <a:t> Embedded Linux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1.  Who we are, who you are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2.  Course goals and outcomes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3.  What we will (and will not) cover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4.  Daily flow and ground rules</a:t>
            </a:r>
          </a:p>
          <a:p>
            <a:pPr>
              <a:spcAft>
                <a:spcPts val="600"/>
              </a:spcAft>
            </a:pPr>
            <a:r>
              <a:rPr sz="2000" b="0" i="0" dirty="0">
                <a:solidFill>
                  <a:srgbClr val="333333"/>
                </a:solidFill>
                <a:latin typeface="Calibri"/>
              </a:rPr>
              <a:t>5.  Prerequisite environment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Course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 i="1">
                <a:solidFill>
                  <a:srgbClr val="666666"/>
                </a:solidFill>
                <a:latin typeface="Calibri"/>
              </a:rPr>
              <a:t>What you should be able to do by Day 4 evening.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663399"/>
                </a:solidFill>
                <a:latin typeface="Calibri"/>
              </a:rPr>
              <a:t>Build a custom Yocto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From source layers, on QEMU or hardware, end to 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663399"/>
                </a:solidFill>
                <a:latin typeface="Calibri"/>
              </a:rPr>
              <a:t>Customize the kernel and device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Patches, config fragments, modules, hardening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663399"/>
                </a:solidFill>
                <a:latin typeface="Calibri"/>
              </a:rPr>
              <a:t>Apply productization practices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Calibri"/>
              </a:rPr>
              <a:t>License compliance, SBOM, CVE workflows, QA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663399"/>
                </a:solidFill>
                <a:latin typeface="Calibri"/>
              </a:rPr>
              <a:t>Operate the built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Boot, debug, deploy apps, maintain devices in the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663399"/>
                </a:solidFill>
                <a:latin typeface="Calibri"/>
              </a:rPr>
              <a:t>Read the </a:t>
            </a:r>
            <a:r>
              <a:rPr sz="2000" b="1" i="0" dirty="0" err="1">
                <a:solidFill>
                  <a:srgbClr val="663399"/>
                </a:solidFill>
                <a:latin typeface="Calibri"/>
              </a:rPr>
              <a:t>Yocto</a:t>
            </a:r>
            <a:r>
              <a:rPr sz="2000" b="1" i="0" dirty="0">
                <a:solidFill>
                  <a:srgbClr val="663399"/>
                </a:solidFill>
                <a:latin typeface="Calibri"/>
              </a:rPr>
              <a:t> docs with</a:t>
            </a:r>
            <a:r>
              <a:rPr lang="en-IN" sz="2000" b="1" i="0" dirty="0">
                <a:solidFill>
                  <a:srgbClr val="663399"/>
                </a:solidFill>
                <a:latin typeface="Calibri"/>
              </a:rPr>
              <a:t> confidence</a:t>
            </a:r>
            <a:endParaRPr sz="2000" b="1" i="0" dirty="0">
              <a:solidFill>
                <a:srgbClr val="663399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You will know enough to learn the rest on your 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Daily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Standard timing each day. Hands-on labs throughout.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74519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Morning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9:00 – 12:30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35204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2606039"/>
            <a:ext cx="3337560" cy="177484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Concepts and walkthrough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Most theory happens here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Mid-morning break: 10:30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Best time for questions before things get hands-on intensive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74519"/>
            <a:ext cx="3520440" cy="640080"/>
          </a:xfrm>
          <a:prstGeom prst="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Lunch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12:30 – 13:30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514600"/>
            <a:ext cx="35204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2606039"/>
            <a:ext cx="3337560" cy="1836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1 hour break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Optional: discuss what you saw in the morning</a:t>
            </a:r>
          </a:p>
          <a:p>
            <a:pPr>
              <a:spcAft>
                <a:spcPts val="400"/>
              </a:spcAft>
            </a:pPr>
            <a:endParaRPr sz="1600" b="0" i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Recharge before afternoon labs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874519"/>
            <a:ext cx="3520440" cy="6400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Afternoon</a:t>
            </a:r>
          </a:p>
          <a:p>
            <a:r>
              <a:rPr sz="1200" i="1">
                <a:solidFill>
                  <a:srgbClr val="FFFFFF"/>
                </a:solidFill>
                <a:latin typeface="Calibri"/>
              </a:rPr>
              <a:t>13:30 – 17:30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514600"/>
            <a:ext cx="3520440" cy="3474720"/>
          </a:xfrm>
          <a:prstGeom prst="rect">
            <a:avLst/>
          </a:prstGeom>
          <a:solidFill>
            <a:srgbClr val="FAFAFA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9" y="2606039"/>
            <a:ext cx="3337560" cy="15286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Hands-on labs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Apply morning concepts</a:t>
            </a:r>
          </a:p>
          <a:p>
            <a:pPr>
              <a:spcAft>
                <a:spcPts val="400"/>
              </a:spcAft>
            </a:pPr>
            <a:r>
              <a:rPr lang="en-IN" sz="1600" dirty="0">
                <a:solidFill>
                  <a:srgbClr val="333333"/>
                </a:solidFill>
                <a:latin typeface="Calibri"/>
              </a:rPr>
              <a:t>One 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breaks: 15:00</a:t>
            </a:r>
          </a:p>
          <a:p>
            <a:pPr>
              <a:spcAft>
                <a:spcPts val="400"/>
              </a:spcAft>
            </a:pPr>
            <a:endParaRPr sz="1600" b="0" i="0" dirty="0">
              <a:solidFill>
                <a:srgbClr val="333333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Day wraps with recap and Q&amp;A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Ground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Some simple norms to make the next 4 days productive.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221599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Ask questions early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If something is unclear, ask before we move on. Topics build on each other.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Type along during demos</a:t>
            </a: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Muscle memory beats notes. Open your terminal even during lectures.</a:t>
            </a:r>
          </a:p>
          <a:p>
            <a:pPr>
              <a:spcAft>
                <a:spcPts val="400"/>
              </a:spcAft>
            </a:pPr>
            <a:r>
              <a:rPr lang="en-IN" sz="2000" b="1" dirty="0">
                <a:solidFill>
                  <a:srgbClr val="CC0066"/>
                </a:solidFill>
                <a:latin typeface="Calibri"/>
              </a:rPr>
              <a:t>Get support instead of struggling</a:t>
            </a:r>
            <a:endParaRPr sz="2000" b="1" dirty="0">
              <a:solidFill>
                <a:srgbClr val="CC0066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Builds break. Raise a hand. We have spare states ready to restore from.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Environment Quick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1" dirty="0">
                <a:solidFill>
                  <a:srgbClr val="666666"/>
                </a:solidFill>
                <a:latin typeface="Calibri"/>
              </a:rPr>
              <a:t>Confirm now so we don't lose time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663399"/>
                </a:solidFill>
                <a:latin typeface="Calibri"/>
              </a:rPr>
              <a:t>Five things to verify on your VM in the next 5 minutes: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10515600" cy="32004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73152" cy="32004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241280" cy="30469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1. You can open a terminal in the Ubuntu 22.04 VM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2. Network works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ping -c 2 google.com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3. </a:t>
            </a:r>
            <a:r>
              <a:rPr sz="1600" i="1" dirty="0" err="1">
                <a:solidFill>
                  <a:srgbClr val="808080"/>
                </a:solidFill>
                <a:latin typeface="Consolas"/>
              </a:rPr>
              <a:t>Yocto</a:t>
            </a:r>
            <a:r>
              <a:rPr sz="1600" i="1" dirty="0">
                <a:solidFill>
                  <a:srgbClr val="808080"/>
                </a:solidFill>
                <a:latin typeface="Consolas"/>
              </a:rPr>
              <a:t> sources are present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ls ~/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yocto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/poky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4. The build environment can be sourced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cd ~/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yocto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 &amp;&amp; source poky/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oe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init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-build-env build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600" i="1" dirty="0">
                <a:solidFill>
                  <a:srgbClr val="808080"/>
                </a:solidFill>
                <a:latin typeface="Consolas"/>
              </a:rPr>
              <a:t># 5. core-image-minimal was already built (per pre-class guide)</a:t>
            </a:r>
          </a:p>
          <a:p>
            <a:pPr>
              <a:spcAft>
                <a:spcPts val="0"/>
              </a:spcAft>
            </a:pPr>
            <a:r>
              <a:rPr sz="1600" dirty="0">
                <a:solidFill>
                  <a:srgbClr val="2D2D2D"/>
                </a:solidFill>
                <a:latin typeface="Consolas"/>
              </a:rPr>
              <a:t>ls </a:t>
            </a:r>
            <a:r>
              <a:rPr sz="1600" dirty="0" err="1">
                <a:solidFill>
                  <a:srgbClr val="2D2D2D"/>
                </a:solidFill>
                <a:latin typeface="Consolas"/>
              </a:rPr>
              <a:t>tmp</a:t>
            </a:r>
            <a:r>
              <a:rPr sz="1600" dirty="0">
                <a:solidFill>
                  <a:srgbClr val="2D2D2D"/>
                </a:solidFill>
                <a:latin typeface="Consolas"/>
              </a:rPr>
              <a:t>/deploy/images/qemux86-64/ 2&gt;/dev/null | head -5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715000"/>
            <a:ext cx="10515600" cy="5943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/>
            <a:r>
              <a:rPr sz="1400" b="1">
                <a:solidFill>
                  <a:srgbClr val="663399"/>
                </a:solidFill>
                <a:latin typeface="Calibri"/>
              </a:rPr>
              <a:t>Raise a hand now if any of these fail. We will fix it during the break, not at lunch.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427</Words>
  <Application>Microsoft Office PowerPoint</Application>
  <PresentationFormat>Widescreen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Welcome &amp; Course Introduction</vt:lpstr>
      <vt:lpstr>Session Agenda</vt:lpstr>
      <vt:lpstr>Course Goals</vt:lpstr>
      <vt:lpstr>Daily Structure</vt:lpstr>
      <vt:lpstr>Ground Rules</vt:lpstr>
      <vt:lpstr>Environment Quick Check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694</cp:revision>
  <dcterms:created xsi:type="dcterms:W3CDTF">2013-11-03T09:32:00Z</dcterms:created>
  <dcterms:modified xsi:type="dcterms:W3CDTF">2026-06-09T03:59:53Z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