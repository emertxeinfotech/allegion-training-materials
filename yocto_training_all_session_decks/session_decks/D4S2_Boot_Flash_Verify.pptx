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1007" r:id="rId2"/>
    <p:sldId id="1008" r:id="rId3"/>
    <p:sldId id="1009" r:id="rId4"/>
    <p:sldId id="1010" r:id="rId5"/>
    <p:sldId id="1011" r:id="rId6"/>
    <p:sldId id="1012" r:id="rId7"/>
    <p:sldId id="1013" r:id="rId8"/>
    <p:sldId id="1014" r:id="rId9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65" d="100"/>
          <a:sy n="65" d="100"/>
        </p:scale>
        <p:origin x="640" y="52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Boot, Flash, Verify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  <a:latin typeface="Calibri"/>
              </a:rPr>
              <a:t>From </a:t>
            </a:r>
            <a:r>
              <a:rPr sz="1800" dirty="0">
                <a:solidFill>
                  <a:srgbClr val="FFFFFF"/>
                </a:solidFill>
                <a:latin typeface="Calibri"/>
              </a:rPr>
              <a:t>image artifact to a working device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Boot flow on a real device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Flashing — wic, sdcard, raw partitions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First-boot checklist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Common bring-up failures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Validating the boot was clean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Boot Flow on a Real Device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What happens between power and login.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9476" y="2103120"/>
            <a:ext cx="1388745" cy="64008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" y="2788920"/>
            <a:ext cx="138874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Reset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13941" y="2103120"/>
            <a:ext cx="1388745" cy="64008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3941" y="2788920"/>
            <a:ext cx="138874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Vendor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8406" y="2103120"/>
            <a:ext cx="1388745" cy="64008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SPL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8406" y="2788920"/>
            <a:ext cx="138874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Stage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2871" y="2103120"/>
            <a:ext cx="1388745" cy="64008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U-Boot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2871" y="2788920"/>
            <a:ext cx="138874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Stage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7336" y="2103120"/>
            <a:ext cx="1388745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Kernel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7336" y="2788920"/>
            <a:ext cx="138874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Init HW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51800" y="2103120"/>
            <a:ext cx="1388745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initramfs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1800" y="2788920"/>
            <a:ext cx="138874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Mount 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2103120"/>
            <a:ext cx="1388745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systemd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6266" y="2788920"/>
            <a:ext cx="138874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0731" y="2103120"/>
            <a:ext cx="1388745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0731" y="2788920"/>
            <a:ext cx="138874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0"/>
            <a:ext cx="10515600" cy="22313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b="1" i="0" dirty="0">
                <a:solidFill>
                  <a:srgbClr val="CC0066"/>
                </a:solidFill>
                <a:latin typeface="Calibri"/>
              </a:rPr>
              <a:t>Stages to remember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Vendor ROM (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BootROM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): vendor's first-stage; usually unmodifiable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SPL: minimal loader that brings up DRAM and loads U-Boot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U-Boot: loads kernel + DTB +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initramfs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; passes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bootargs</a:t>
            </a:r>
            <a:endParaRPr sz="1600" b="0" i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Kernel: initializes hardware, mounts root filesystem</a:t>
            </a:r>
          </a:p>
          <a:p>
            <a:pPr>
              <a:spcAft>
                <a:spcPts val="8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systemd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: starts services per unit dependencies</a:t>
            </a:r>
          </a:p>
          <a:p>
            <a:pPr>
              <a:spcAft>
                <a:spcPts val="400"/>
              </a:spcAft>
            </a:pPr>
            <a:r>
              <a:rPr sz="1600" b="1" i="0" dirty="0">
                <a:solidFill>
                  <a:srgbClr val="663399"/>
                </a:solidFill>
                <a:latin typeface="Calibri"/>
              </a:rPr>
              <a:t>If boot fails, identify which stage. The fix lives in that stage.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Flashing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Three common paths from .wic to a bootable device.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bmaptool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Faster than dd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2514600"/>
            <a:ext cx="3337560" cy="303672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When: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WIC images with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.bmap files</a:t>
            </a:r>
          </a:p>
          <a:p>
            <a:pPr>
              <a:spcAft>
                <a:spcPts val="400"/>
              </a:spcAft>
            </a:pPr>
            <a:endParaRPr sz="14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Skips unallocated blocks</a:t>
            </a:r>
          </a:p>
          <a:p>
            <a:pPr>
              <a:spcAft>
                <a:spcPts val="400"/>
              </a:spcAft>
            </a:pPr>
            <a:endParaRPr sz="14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Command: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bmaptool copy \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  image.wic.bz2 /dev/sdX</a:t>
            </a:r>
          </a:p>
          <a:p>
            <a:pPr>
              <a:spcAft>
                <a:spcPts val="400"/>
              </a:spcAft>
            </a:pPr>
            <a:endParaRPr sz="14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Typical for SD cards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783080"/>
            <a:ext cx="3520440" cy="640080"/>
          </a:xfrm>
          <a:prstGeom prst="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dd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Universal fallback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2514600"/>
            <a:ext cx="3337560" cy="33034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663399"/>
                </a:solidFill>
                <a:latin typeface="Calibri"/>
              </a:rPr>
              <a:t>When: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Everywhere</a:t>
            </a:r>
          </a:p>
          <a:p>
            <a:pPr>
              <a:spcAft>
                <a:spcPts val="400"/>
              </a:spcAft>
            </a:pPr>
            <a:endParaRPr sz="14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Works with any image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type and any target</a:t>
            </a:r>
          </a:p>
          <a:p>
            <a:pPr>
              <a:spcAft>
                <a:spcPts val="400"/>
              </a:spcAft>
            </a:pPr>
            <a:endParaRPr sz="14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663399"/>
                </a:solidFill>
                <a:latin typeface="Calibri"/>
              </a:rPr>
              <a:t>Command: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sudo dd if=img.wic \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  of=/dev/sdX bs=4M \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  status=progress</a:t>
            </a:r>
          </a:p>
          <a:p>
            <a:pPr>
              <a:spcAft>
                <a:spcPts val="400"/>
              </a:spcAft>
            </a:pPr>
            <a:endParaRPr sz="14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Slower than bmaptool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vendor flasher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SoC-specific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9" y="2514600"/>
            <a:ext cx="3337560" cy="303672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When: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Specific SoC vendor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tools</a:t>
            </a:r>
          </a:p>
          <a:p>
            <a:pPr>
              <a:spcAft>
                <a:spcPts val="400"/>
              </a:spcAft>
            </a:pPr>
            <a:endParaRPr sz="14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Examples: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uuu (NXP i.MX)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mfgtool (NXP)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rkdeveloptool (Rockchip)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STM32CubeProgrammer</a:t>
            </a:r>
          </a:p>
          <a:p>
            <a:pPr>
              <a:spcAft>
                <a:spcPts val="400"/>
              </a:spcAft>
            </a:pPr>
            <a:endParaRPr sz="14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Required for some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First-Boot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  <a:latin typeface="Calibri"/>
              </a:rPr>
              <a:t>What to verify in the first 60 seconds after powering 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97864" y="1714590"/>
            <a:ext cx="10241280" cy="470898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1. Did we even boot? Check serial console.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Should see kernel messages and a login prompt.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2. Time and date sane?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date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If off, NTP didn't start, or RTC is missing/broken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3. Network up?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ip addr show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ping -c 2 8.8.8.8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4. All filesystems mounted?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df -h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Look for / and /data (or whatever your layout uses)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5. CPU and memory healthy?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free -h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cat /proc/loadavg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6. Any kernel errors or warnings?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dmesg --level=err,warn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7. systemd happy?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systemctl --failed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systemctl is-system-running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Common Bring-Up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What goes wrong on first boot — and what to look at.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Stuck at U-Boot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Kernel/DTB not found at expected path. Check bootargs and partition mounts in U-Boot.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Kernel panics on mount root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rootfstype, root path wrong, or rootwait missing. Inspect APPEND.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Black screen, no serial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Wrong console= argument; or earlycon not enabled. Check cmdline.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Boots but no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Driver missing, MAC not set, no DHCP. Check dmesg, ip link, journalctl -u systemd-networkd.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systemd hangs forever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Failed dependency, missing service file, or bad mount. Try systemd.debug-shell=1.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Validating a Clean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Beyond 'it booted' — what does 'clean' actually mean?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71311" y="1783080"/>
            <a:ext cx="10241280" cy="469359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300" i="1">
                <a:solidFill>
                  <a:srgbClr val="808080"/>
                </a:solidFill>
                <a:latin typeface="Consolas"/>
              </a:rPr>
              <a:t># Clean boot checklist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 i="1">
                <a:solidFill>
                  <a:srgbClr val="808080"/>
                </a:solidFill>
                <a:latin typeface="Consolas"/>
              </a:rPr>
              <a:t># No failed units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systemctl --failed</a:t>
            </a:r>
          </a:p>
          <a:p>
            <a:pPr>
              <a:spcAft>
                <a:spcPts val="0"/>
              </a:spcAft>
            </a:pPr>
            <a:r>
              <a:rPr sz="1300" i="1">
                <a:solidFill>
                  <a:srgbClr val="808080"/>
                </a:solidFill>
                <a:latin typeface="Consolas"/>
              </a:rPr>
              <a:t># Output should be: '0 loaded units listed.'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 i="1">
                <a:solidFill>
                  <a:srgbClr val="808080"/>
                </a:solidFill>
                <a:latin typeface="Consolas"/>
              </a:rPr>
              <a:t># No kernel errors or warnings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dmesg --level=err,warn</a:t>
            </a:r>
          </a:p>
          <a:p>
            <a:pPr>
              <a:spcAft>
                <a:spcPts val="0"/>
              </a:spcAft>
            </a:pPr>
            <a:r>
              <a:rPr sz="1300" i="1">
                <a:solidFill>
                  <a:srgbClr val="808080"/>
                </a:solidFill>
                <a:latin typeface="Consolas"/>
              </a:rPr>
              <a:t># Should be empty or only known-acceptable lines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 i="1">
                <a:solidFill>
                  <a:srgbClr val="808080"/>
                </a:solidFill>
                <a:latin typeface="Consolas"/>
              </a:rPr>
              <a:t># Boot completed within target time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systemd-analyze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systemd-analyze blame | head -10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 i="1">
                <a:solidFill>
                  <a:srgbClr val="808080"/>
                </a:solidFill>
                <a:latin typeface="Consolas"/>
              </a:rPr>
              <a:t># All expected services running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systemctl status nginx hello-trainergw chronyd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 i="1">
                <a:solidFill>
                  <a:srgbClr val="808080"/>
                </a:solidFill>
                <a:latin typeface="Consolas"/>
              </a:rPr>
              <a:t># Verify CVE/SBOM artifacts are present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ls /usr/share/common-licenses/ 2&gt;/dev/null | head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test -f /etc/os-release &amp;&amp; cat /etc/os-release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 i="1">
                <a:solidFill>
                  <a:srgbClr val="808080"/>
                </a:solidFill>
                <a:latin typeface="Consolas"/>
              </a:rPr>
              <a:t># Confirm no unexpected processes (Yocto images are minimal)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ps aux | wc -l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Boot has stages; bug fixes live in the right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ROM → SPL → U-Boot → Kernel → initramfs → systemd → 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Three flash methods cover almost any 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bmaptool fastest; dd universal; vendor tool for special SoCs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First-boot checklist is ~7 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date, ip, df, free, dmesg, systemctl --failed — 60 seconds total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Common failures cluster around 5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Boot args, root mount, console, network init, systemd deps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'Clean boot' is verifiable, not vibes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No failed units, no kernel errors, expected boot time, all services 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400" b="1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>
                <a:solidFill>
                  <a:srgbClr val="333333"/>
                </a:solidFill>
                <a:latin typeface="Calibri"/>
              </a:rPr>
              <a:t>Day-to-day operations 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811</Words>
  <Application>Microsoft Office PowerPoint</Application>
  <PresentationFormat>Widescreen</PresentationFormat>
  <Paragraphs>162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Century Gothic</vt:lpstr>
      <vt:lpstr>Consolas</vt:lpstr>
      <vt:lpstr>Trebuchet MS</vt:lpstr>
      <vt:lpstr>Wingdings</vt:lpstr>
      <vt:lpstr>Office Theme</vt:lpstr>
      <vt:lpstr>Boot, Flash, Verify</vt:lpstr>
      <vt:lpstr>Session Agenda</vt:lpstr>
      <vt:lpstr>Boot Flow on a Real Device</vt:lpstr>
      <vt:lpstr>Flashing Methods</vt:lpstr>
      <vt:lpstr>First-Boot Checklist</vt:lpstr>
      <vt:lpstr>Common Bring-Up Failures</vt:lpstr>
      <vt:lpstr>Validating a Clean Boot</vt:lpstr>
      <vt:lpstr>Session Summary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biju mk</cp:lastModifiedBy>
  <cp:revision>689</cp:revision>
  <dcterms:created xsi:type="dcterms:W3CDTF">2013-11-03T09:32:00Z</dcterms:created>
  <dcterms:modified xsi:type="dcterms:W3CDTF">2026-06-12T01:50:16Z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