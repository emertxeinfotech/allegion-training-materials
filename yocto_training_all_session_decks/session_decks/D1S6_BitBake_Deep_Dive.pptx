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007" r:id="rId2"/>
    <p:sldId id="1008" r:id="rId3"/>
    <p:sldId id="1009" r:id="rId4"/>
    <p:sldId id="1010" r:id="rId5"/>
    <p:sldId id="1011" r:id="rId6"/>
    <p:sldId id="1012" r:id="rId7"/>
    <p:sldId id="1013" r:id="rId8"/>
    <p:sldId id="1014" r:id="rId9"/>
    <p:sldId id="1015" r:id="rId10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65" d="100"/>
          <a:sy n="65" d="100"/>
        </p:scale>
        <p:origin x="640" y="52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BitBake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dirty="0">
                <a:solidFill>
                  <a:srgbClr val="FFFFFF"/>
                </a:solidFill>
                <a:latin typeface="Calibri"/>
              </a:rPr>
              <a:t>Tasks, </a:t>
            </a:r>
            <a:r>
              <a:rPr sz="1800" dirty="0" err="1">
                <a:solidFill>
                  <a:srgbClr val="FFFFFF"/>
                </a:solidFill>
                <a:latin typeface="Calibri"/>
              </a:rPr>
              <a:t>execut</a:t>
            </a:r>
            <a:r>
              <a:rPr lang="en-IN" sz="1800" dirty="0" err="1">
                <a:solidFill>
                  <a:srgbClr val="FFFFFF"/>
                </a:solidFill>
                <a:latin typeface="Calibri"/>
              </a:rPr>
              <a:t>i</a:t>
            </a:r>
            <a:r>
              <a:rPr sz="1800" dirty="0">
                <a:solidFill>
                  <a:srgbClr val="FFFFFF"/>
                </a:solidFill>
                <a:latin typeface="Calibri"/>
              </a:rPr>
              <a:t>on, variables, overrides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232371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1.  </a:t>
            </a:r>
            <a:r>
              <a:rPr sz="2000" b="0" i="0" dirty="0" err="1">
                <a:solidFill>
                  <a:srgbClr val="333333"/>
                </a:solidFill>
                <a:latin typeface="Calibri"/>
              </a:rPr>
              <a:t>BitBake's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 job</a:t>
            </a:r>
            <a:r>
              <a:rPr lang="en-IN" sz="2000" b="0" i="0" dirty="0">
                <a:solidFill>
                  <a:srgbClr val="333333"/>
                </a:solidFill>
                <a:latin typeface="Calibri"/>
              </a:rPr>
              <a:t>: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 parse, plan, execute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2.  The standard task chain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3.  Variables</a:t>
            </a:r>
            <a:r>
              <a:rPr lang="en-IN" sz="2000" b="0" i="0" dirty="0">
                <a:solidFill>
                  <a:srgbClr val="333333"/>
                </a:solidFill>
                <a:latin typeface="Calibri"/>
              </a:rPr>
              <a:t>: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 assignment operators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4.  Overrides</a:t>
            </a:r>
            <a:r>
              <a:rPr lang="en-IN" sz="2000" dirty="0">
                <a:solidFill>
                  <a:srgbClr val="333333"/>
                </a:solidFill>
                <a:latin typeface="Calibri"/>
              </a:rPr>
              <a:t>: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 how </a:t>
            </a:r>
            <a:r>
              <a:rPr sz="2000" b="0" i="0" dirty="0" err="1">
                <a:solidFill>
                  <a:srgbClr val="333333"/>
                </a:solidFill>
                <a:latin typeface="Calibri"/>
              </a:rPr>
              <a:t>Yocto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 picks variants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5.  Configuration files: </a:t>
            </a:r>
            <a:r>
              <a:rPr sz="2000" b="0" i="0" dirty="0" err="1">
                <a:solidFill>
                  <a:srgbClr val="333333"/>
                </a:solidFill>
                <a:latin typeface="Calibri"/>
              </a:rPr>
              <a:t>local.conf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333333"/>
                </a:solidFill>
                <a:latin typeface="Calibri"/>
              </a:rPr>
              <a:t>bblayers.conf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, distro/machine config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6.  Useful inspection commands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 err="1">
                <a:latin typeface="Calibri"/>
              </a:rPr>
              <a:t>BitBake's</a:t>
            </a:r>
            <a:r>
              <a:rPr sz="3200" b="1" dirty="0">
                <a:latin typeface="Calibri"/>
              </a:rPr>
              <a:t>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Three phases for every build.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Parse</a:t>
            </a:r>
          </a:p>
          <a:p>
            <a:r>
              <a:rPr sz="1600" i="1" dirty="0">
                <a:solidFill>
                  <a:srgbClr val="FFFFFF"/>
                </a:solidFill>
                <a:latin typeface="Calibri"/>
              </a:rPr>
              <a:t>Read metadata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93192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27289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Reads: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.bb (recipes)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.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bbclass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(classes)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.conf (configuration)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.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inc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(includes)</a:t>
            </a:r>
          </a:p>
          <a:p>
            <a:pPr>
              <a:spcAft>
                <a:spcPts val="400"/>
              </a:spcAft>
            </a:pP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Output: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A dependency database of all recipes, variables,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Plan</a:t>
            </a:r>
          </a:p>
          <a:p>
            <a:r>
              <a:rPr sz="1600" i="1" dirty="0">
                <a:solidFill>
                  <a:srgbClr val="FFFFFF"/>
                </a:solidFill>
                <a:latin typeface="Calibri"/>
              </a:rPr>
              <a:t>Build task 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93192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243143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Resolves: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Build-time dependencies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Runtime dependencies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Variants and overrides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Output: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An ordered task graph; sstate is consulted to skip already-built tasks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Execute</a:t>
            </a:r>
          </a:p>
          <a:p>
            <a:r>
              <a:rPr sz="1600" i="1" dirty="0">
                <a:solidFill>
                  <a:srgbClr val="FFFFFF"/>
                </a:solidFill>
                <a:latin typeface="Calibri"/>
              </a:rPr>
              <a:t>Run tasks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93192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21339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Runs: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Tasks in parallel where possible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Honoring BB_NUMBER_THREADS</a:t>
            </a:r>
          </a:p>
          <a:p>
            <a:pPr>
              <a:spcAft>
                <a:spcPts val="400"/>
              </a:spcAft>
            </a:pP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Per task: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Run task function, hash inputs, write outputs, cache in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sstate</a:t>
            </a:r>
            <a:endParaRPr sz="1600" b="0" i="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The Standard Task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Every software recipe runs roughly this sequence.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" y="2103120"/>
            <a:ext cx="1388745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b="1">
                <a:solidFill>
                  <a:srgbClr val="663399"/>
                </a:solidFill>
                <a:latin typeface="Consolas"/>
              </a:rPr>
              <a:t>do_fetch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" y="2788920"/>
            <a:ext cx="1388745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Get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13941" y="2103120"/>
            <a:ext cx="1388745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b="1">
                <a:solidFill>
                  <a:srgbClr val="663399"/>
                </a:solidFill>
                <a:latin typeface="Consolas"/>
              </a:rPr>
              <a:t>do_unpack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3941" y="2788920"/>
            <a:ext cx="1388745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Extract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8406" y="2103120"/>
            <a:ext cx="1388745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b="1">
                <a:solidFill>
                  <a:srgbClr val="663399"/>
                </a:solidFill>
                <a:latin typeface="Consolas"/>
              </a:rPr>
              <a:t>do_patch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8406" y="2788920"/>
            <a:ext cx="1388745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Apply patches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2871" y="2103120"/>
            <a:ext cx="1388745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400" b="1">
                <a:solidFill>
                  <a:srgbClr val="663399"/>
                </a:solidFill>
                <a:latin typeface="Consolas"/>
              </a:rPr>
              <a:t>do_configure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2871" y="2788920"/>
            <a:ext cx="1388745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Configure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2103120"/>
            <a:ext cx="1388745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b="1">
                <a:solidFill>
                  <a:srgbClr val="663399"/>
                </a:solidFill>
                <a:latin typeface="Consolas"/>
              </a:rPr>
              <a:t>do_compile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2788920"/>
            <a:ext cx="1388745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Compile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51800" y="2103120"/>
            <a:ext cx="1388745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b="1">
                <a:solidFill>
                  <a:srgbClr val="663399"/>
                </a:solidFill>
                <a:latin typeface="Consolas"/>
              </a:rPr>
              <a:t>do_install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1800" y="2788920"/>
            <a:ext cx="1388745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Install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2103120"/>
            <a:ext cx="1388745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b="1">
                <a:solidFill>
                  <a:srgbClr val="663399"/>
                </a:solidFill>
                <a:latin typeface="Consolas"/>
              </a:rPr>
              <a:t>do_package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6266" y="2788920"/>
            <a:ext cx="1388745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Package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0731" y="2103120"/>
            <a:ext cx="1388745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b="1">
                <a:solidFill>
                  <a:srgbClr val="663399"/>
                </a:solidFill>
                <a:latin typeface="Consolas"/>
              </a:rPr>
              <a:t>do_image*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0731" y="2788920"/>
            <a:ext cx="1388745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Build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" y="3092737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 dirty="0">
                <a:solidFill>
                  <a:srgbClr val="CC0066"/>
                </a:solidFill>
                <a:latin typeface="Calibri"/>
              </a:rPr>
              <a:t>Useful inspection commands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" y="3443748"/>
            <a:ext cx="10515600" cy="2593258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78247" y="3429000"/>
            <a:ext cx="73152" cy="2593258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516636" y="3348810"/>
            <a:ext cx="10241280" cy="28931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List all tasks for a recipe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busybox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-c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listtasks</a:t>
            </a:r>
            <a:endParaRPr sz="1600" dirty="0">
              <a:solidFill>
                <a:srgbClr val="2D2D2D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Run a specific task (and its dependencies)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busybox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-c compile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Force re-run a task even if cached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busybox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-c compile -f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Drop into a shell with the build env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busybox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-c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devshell</a:t>
            </a:r>
            <a:endParaRPr sz="1600" dirty="0">
              <a:solidFill>
                <a:srgbClr val="2D2D2D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Variable Assignment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Where most 'why didn't my override take effect?' confusion lives.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206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20624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" y="1685598"/>
            <a:ext cx="10241280" cy="44012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Basic assignment — last one wins; expanded lazily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FOO = "value"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Default — only set if not already set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FOO ?= "default"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Weak default — only set if no other ?= or = has been seen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FOO ??= "weakdefault"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Immediate assignment — expand RHS at parse time, freeze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FOO := "now"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Append with a space (newer syntax)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FOO:append = " more"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Prepend with a space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FOO:prepend = "first "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Append/prepend evaluated late (after overrides)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FOO += "appended"   # also appends, evaluated at parse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6123326"/>
            <a:ext cx="10515600" cy="32004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600" b="1">
                <a:solidFill>
                  <a:srgbClr val="663399"/>
                </a:solidFill>
                <a:latin typeface="Calibri"/>
              </a:rPr>
              <a:t>:append vs +=  — the rule: :append happens AFTER overrides, += happens at parse time. When in doubt, prefer :append.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Overrides</a:t>
            </a:r>
            <a:r>
              <a:rPr lang="en-IN" sz="3200" b="1" dirty="0">
                <a:latin typeface="Calibri"/>
              </a:rPr>
              <a:t>:</a:t>
            </a:r>
            <a:r>
              <a:rPr sz="3200" b="1" dirty="0">
                <a:latin typeface="Calibri"/>
              </a:rPr>
              <a:t>How </a:t>
            </a:r>
            <a:r>
              <a:rPr sz="3200" b="1" dirty="0" err="1">
                <a:latin typeface="Calibri"/>
              </a:rPr>
              <a:t>Yocto</a:t>
            </a:r>
            <a:r>
              <a:rPr sz="3200" b="1" dirty="0">
                <a:latin typeface="Calibri"/>
              </a:rPr>
              <a:t> Picks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Same variable, different value based on machine / distro / class.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40551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OVERRIDES is a colon-separated list of contexts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onsolas"/>
              </a:rPr>
              <a:t>Default value:  OVERRIDES = "${TUNE_PKGARCH}:${MACHINEOVERRIDES}:${DISTROOVERRIDES}:class-${CLASSOVERRIDE}"</a:t>
            </a:r>
          </a:p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Use override-suffixed variables to set values per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44645"/>
            <a:ext cx="10515600" cy="2743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244645"/>
            <a:ext cx="73152" cy="27432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336084"/>
            <a:ext cx="10241280" cy="255454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Same variable, set differently per machine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EXTRA_OECONF = "--enable-foo"                       # default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EXTRA_OECONF:raspberrypi4-64 = "--enable-foo --with-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gpu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"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EXTRA_OECONF:qemux86-64 = "--enable-foo --without-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gpu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"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Per distro feature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PACKAGECONFIG:append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= "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systemd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"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Per class (e.g., for native builds vs target)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CFLAGS:class-native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= "-O0 -g"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Configuration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Three layers of config, applied in order.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Calibri"/>
              </a:rPr>
              <a:t>local.conf</a:t>
            </a:r>
            <a:endParaRPr sz="2000" b="1" dirty="0">
              <a:solidFill>
                <a:srgbClr val="FFFFFF"/>
              </a:solidFill>
              <a:latin typeface="Calibri"/>
            </a:endParaRPr>
          </a:p>
          <a:p>
            <a:r>
              <a:rPr sz="1600" i="1" dirty="0">
                <a:solidFill>
                  <a:srgbClr val="FFFFFF"/>
                </a:solidFill>
                <a:latin typeface="Calibri"/>
              </a:rPr>
              <a:t>Your personal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35907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build/conf/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local.conf</a:t>
            </a: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Settings you tune yourself: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MACHINE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DISTRO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SSTATE_DIR, DL_DIR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BB_NUMBER_THREADS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PACKAGE_CLASSES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EXTRA_IMAGE_FEATURES</a:t>
            </a:r>
          </a:p>
          <a:p>
            <a:pPr>
              <a:spcAft>
                <a:spcPts val="400"/>
              </a:spcAft>
            </a:pP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Not checked in to your product repo — per developer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distro/*.conf</a:t>
            </a:r>
          </a:p>
          <a:p>
            <a:r>
              <a:rPr sz="1600" i="1" dirty="0">
                <a:solidFill>
                  <a:srgbClr val="FFFFFF"/>
                </a:solidFill>
                <a:latin typeface="Calibri"/>
              </a:rPr>
              <a:t>Distro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29956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meta-yourdistro/conf/distro/yourdistro.conf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Settings that apply to your distro: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DISTRO_FEATURES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INIT_MANAGER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PACKAGE_CLASSES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LICENSE policy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Checked in to your meta-distro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machine/*.conf</a:t>
            </a:r>
          </a:p>
          <a:p>
            <a:r>
              <a:rPr sz="1600" i="1" dirty="0">
                <a:solidFill>
                  <a:srgbClr val="FFFFFF"/>
                </a:solidFill>
                <a:latin typeface="Calibri"/>
              </a:rPr>
              <a:t>Hardware specifics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29956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meta-yourbsp/conf/machine/yourboard.conf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Settings tied to hardware: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PREFERRED_PROVIDER for kernel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KERNEL_DEVICETREE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MACHINE_FEATURES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Boot args, image format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Provided by BSP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617220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600" b="1" dirty="0">
                <a:solidFill>
                  <a:srgbClr val="663399"/>
                </a:solidFill>
                <a:latin typeface="Calibri"/>
              </a:rPr>
              <a:t>Order of application: </a:t>
            </a:r>
            <a:r>
              <a:rPr sz="1600" b="1" dirty="0" err="1">
                <a:solidFill>
                  <a:srgbClr val="663399"/>
                </a:solidFill>
                <a:latin typeface="Calibri"/>
              </a:rPr>
              <a:t>machine.conf</a:t>
            </a:r>
            <a:r>
              <a:rPr sz="1600" b="1" dirty="0">
                <a:solidFill>
                  <a:srgbClr val="663399"/>
                </a:solidFill>
                <a:latin typeface="Calibri"/>
              </a:rPr>
              <a:t> → </a:t>
            </a:r>
            <a:r>
              <a:rPr sz="1600" b="1" dirty="0" err="1">
                <a:solidFill>
                  <a:srgbClr val="663399"/>
                </a:solidFill>
                <a:latin typeface="Calibri"/>
              </a:rPr>
              <a:t>distro.conf</a:t>
            </a:r>
            <a:r>
              <a:rPr sz="1600" b="1" dirty="0">
                <a:solidFill>
                  <a:srgbClr val="663399"/>
                </a:solidFill>
                <a:latin typeface="Calibri"/>
              </a:rPr>
              <a:t> → </a:t>
            </a:r>
            <a:r>
              <a:rPr sz="1600" b="1" dirty="0" err="1">
                <a:solidFill>
                  <a:srgbClr val="663399"/>
                </a:solidFill>
                <a:latin typeface="Calibri"/>
              </a:rPr>
              <a:t>local.conf</a:t>
            </a:r>
            <a:r>
              <a:rPr sz="1600" b="1" dirty="0">
                <a:solidFill>
                  <a:srgbClr val="663399"/>
                </a:solidFill>
                <a:latin typeface="Calibri"/>
              </a:rPr>
              <a:t>. Later files can override earlier.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Inspection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Commands you will run constantly to understand what </a:t>
            </a:r>
            <a:r>
              <a:rPr sz="1600" b="0" i="1" dirty="0" err="1">
                <a:solidFill>
                  <a:srgbClr val="666666"/>
                </a:solidFill>
                <a:latin typeface="Calibri"/>
              </a:rPr>
              <a:t>BitBake</a:t>
            </a:r>
            <a:r>
              <a:rPr sz="1600" b="0" i="1" dirty="0">
                <a:solidFill>
                  <a:srgbClr val="666666"/>
                </a:solidFill>
                <a:latin typeface="Calibri"/>
              </a:rPr>
              <a:t> is doing.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52431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Show the fully expanded environment for a recipe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-e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busybox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&gt;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busybox.env</a:t>
            </a:r>
            <a:endParaRPr sz="1600" dirty="0">
              <a:solidFill>
                <a:srgbClr val="2D2D2D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less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busybox.env</a:t>
            </a:r>
            <a:endParaRPr sz="1600" dirty="0">
              <a:solidFill>
                <a:srgbClr val="2D2D2D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Show the task graph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-g core-image-base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-g -u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taskexp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core-image-base    # interactive viewer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Show the layers in use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-layers show-layers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-layers show-recipes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busybox</a:t>
            </a:r>
            <a:endParaRPr sz="1600" dirty="0">
              <a:solidFill>
                <a:srgbClr val="2D2D2D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-layers show-overlayed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Show what's different between two task signatures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bitbake-diffsigs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old.sig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new.sig</a:t>
            </a:r>
            <a:endParaRPr sz="1600" dirty="0">
              <a:solidFill>
                <a:srgbClr val="2D2D2D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Show a recipe's dependencies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-g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busybox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-u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depgraph</a:t>
            </a:r>
            <a:endParaRPr sz="1600" dirty="0">
              <a:solidFill>
                <a:srgbClr val="2D2D2D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BitBake parses, plans, executes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Three phases — understand them and most errors are easier to diagnose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The task chain is fetch → unpack → patch → configure → compile → install → package →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Every recipe follows this skeleton; classes add the body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Variable operators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:= immediate, ?= default, ??= weak default, :append after overrides, += at parse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Overrides let one variable have many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OVERRIDES list defines contexts; var:context = value applies per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Three config files: local, distro, machine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Layered application — machine first, then distro, then your local overrides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Build environment setup hands-on (120 min)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981</Words>
  <Application>Microsoft Office PowerPoint</Application>
  <PresentationFormat>Widescreen</PresentationFormat>
  <Paragraphs>182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BitBake Deep Dive</vt:lpstr>
      <vt:lpstr>Session Agenda</vt:lpstr>
      <vt:lpstr>BitBake's Job</vt:lpstr>
      <vt:lpstr>The Standard Task Chain</vt:lpstr>
      <vt:lpstr>Variable Assignment Operators</vt:lpstr>
      <vt:lpstr>Overrides:How Yocto Picks Variants</vt:lpstr>
      <vt:lpstr>Configuration Files</vt:lpstr>
      <vt:lpstr>Inspection Toolkit</vt:lpstr>
      <vt:lpstr>Session Summary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692</cp:revision>
  <dcterms:created xsi:type="dcterms:W3CDTF">2013-11-03T09:32:00Z</dcterms:created>
  <dcterms:modified xsi:type="dcterms:W3CDTF">2026-06-08T16:33:47Z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