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1007" r:id="rId2"/>
    <p:sldId id="1008" r:id="rId3"/>
    <p:sldId id="1009" r:id="rId4"/>
    <p:sldId id="1010" r:id="rId5"/>
    <p:sldId id="1011" r:id="rId6"/>
    <p:sldId id="1012" r:id="rId7"/>
    <p:sldId id="1013" r:id="rId8"/>
    <p:sldId id="1014" r:id="rId9"/>
    <p:sldId id="1015" r:id="rId10"/>
    <p:sldId id="1016" r:id="rId11"/>
    <p:sldId id="1017" r:id="rId12"/>
  </p:sldIdLst>
  <p:sldSz cx="12192000" cy="6858000"/>
  <p:notesSz cx="6858000" cy="9144000"/>
  <p:custDataLst>
    <p:tags r:id="rId1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3554" autoAdjust="0"/>
  </p:normalViewPr>
  <p:slideViewPr>
    <p:cSldViewPr snapToGrid="0" snapToObjects="1" showGuides="1">
      <p:cViewPr>
        <p:scale>
          <a:sx n="65" d="100"/>
          <a:sy n="65" d="100"/>
        </p:scale>
        <p:origin x="640" y="52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gs" Target="tags/tag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License Compliance &amp; SBOM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dirty="0">
                <a:solidFill>
                  <a:srgbClr val="FFFFFF"/>
                </a:solidFill>
                <a:latin typeface="Calibri"/>
              </a:rPr>
              <a:t>SPDX, license manifests, audits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Why license compliance matters now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SPDX identifiers in recipes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LICENSE and LIC_FILES_CHKSUM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INCOMPATIBLE_LICENSE — policy enforcement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5.  License manifests and audit reports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6.  Third-party layer assessment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7.  SBOM generation with create-spdx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8.  What auditors actually ask for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Why License Compliance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What changed in the last few years.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335476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2000" b="1" i="0">
                <a:solidFill>
                  <a:srgbClr val="CC0066"/>
                </a:solidFill>
                <a:latin typeface="Calibri"/>
              </a:rPr>
              <a:t>Regulatory pressure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US Executive Order 14028 — SBOM for federal procurement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EU Cyber Resilience Act (CRA) — SBOM required for connected products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OpenChain ISO/IEC 5230 — supply chain compliance standard</a:t>
            </a:r>
          </a:p>
          <a:p>
            <a:pPr>
              <a:spcAft>
                <a:spcPts val="400"/>
              </a:spcAft>
            </a:pPr>
            <a:r>
              <a:rPr sz="2000" b="1" i="0">
                <a:solidFill>
                  <a:srgbClr val="CC0066"/>
                </a:solidFill>
                <a:latin typeface="Calibri"/>
              </a:rPr>
              <a:t>Customer expectations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Enterprise buyers demand SBOM with shipment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Compliance teams ask for license manifests pre-purchase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Penalty for non-compliance: lost deals, recalls, lawsuits</a:t>
            </a:r>
          </a:p>
          <a:p>
            <a:pPr>
              <a:spcAft>
                <a:spcPts val="400"/>
              </a:spcAft>
            </a:pPr>
            <a:r>
              <a:rPr sz="2000" b="1" i="0">
                <a:solidFill>
                  <a:srgbClr val="663399"/>
                </a:solidFill>
                <a:latin typeface="Calibri"/>
              </a:rPr>
              <a:t>The good news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Yocto has all the tooling built in. You just need to enable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SPDX Identifiers in Recipes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Standard names for licenses, not free-text.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6166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Old, free-text (avoid)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LICENSE = "GPL"        # Which GPL? v2? v3? Only? Or-later?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New, SPDX (use this)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LICENSE = "GPL-2.0-only"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LICENSE = "GPL-2.0-or-later"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LICENSE = "MIT"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LICENSE = "Apache-2.0"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LICENSE = "BSD-3-Clause"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Multiple licenses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LICENSE = "GPL-2.0-or-later &amp; LGPL-3.0-or-later"  # both apply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LICENSE = "GPL-2.0-or-later | MIT"                # one or the other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Per package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LICENSE:${PN} = "MIT"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LICENSE:${PN}-tools = "GPL-2.0-only"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Reference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Full SPDX list: spdx.org/licenses/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Yocto has common ones in poky/meta/files/common-licenses/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LIC_FILES_CHKSUM — Tamper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Verify the license file hasn't changed since you reviewed it.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40120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Required for every recipe — Yocto refuses to build without it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LICENSE = "MIT"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LIC_FILES_CHKSUM = "file://LICENSE;md5=abc123def456..."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Multiple license files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LIC_FILES_CHKSUM = "\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   file://LICENSE;md5=... \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   file://COPYING;md5=... \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   file://src/main.c;beginline=1;endline=20;md5=... \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What happens when checksum mismatches: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ERROR: mypackage-1.0-r0 do_populate_lic: QA Issue: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  mypackage: The LIC_FILES_CHKSUM does not match for ...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  The new checksum is: xyz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Why this matters: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Upstream may quietly change license text or terms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This stops you from shipping a build with an unreviewed license change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INCOMPATIBLE_LICENSE — Policy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Block licenses that don't fit your product's policy.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40120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In your distro.conf or local.conf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Refuse GPL-3 and AGPL across the board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INCOMPATIBLE_LICENSE = "GPL-3.0* AGPL-3.0* LGPL-3.0*"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Why GPL-3 is often excluded for embedded products: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- Anti-Tivoization clause requires user-installable updates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- Many locked-down products cannot comply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Allow specific commercial-flagged packages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LICENSE_FLAGS_ACCEPTED = "commercial_ffmpeg commercial_gst-plugins-ugly"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When a recipe is excluded, build fails with: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ERROR: Recipe X is excluded because of INCOMPATIBLE_LICENSE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To check what would be excluded: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bitbake -e core-image-base | grep INCOMPATIBLE_LICENSE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To find which package pulls in a GPL-3 dep: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bitbake -g core-image-base &amp;&amp; cat task-depends.dot | grep -i gpl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License Manifests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Yocto produces these automatically for every image.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97864" y="1783080"/>
            <a:ext cx="10241280" cy="46166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After bitbake core-image-base: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ls tmp/deploy/licenses/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Per-recipe license info, one directory each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ls tmp/deploy/licenses/core-image-base-yourmachine-&lt;timestamp&gt;/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license.manifest      — installed packages and their licenses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package.manifest      — manifest in package-list format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image_license.manifest — image-level license aggregation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cat tmp/deploy/licenses/core-image-base-*/license.manifest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PACKAGE NAME: busybox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PACKAGE VERSION: 1.36.1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RECIPE NAME: busybox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LICENSE: GPL-2.0-only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...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To copy this manifest into the deployed image itself: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COPY_LIC_MANIFEST = "1"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COPY_LIC_DIRS = "1"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Manifest appears at /usr/share/common-licenses/ on the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Third-Party Layer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When a vendor ships you a meta-layer, this is what to do.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387285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b="1" i="0">
                <a:solidFill>
                  <a:srgbClr val="CC0066"/>
                </a:solidFill>
                <a:latin typeface="Calibri"/>
              </a:rPr>
              <a:t>Audit checklist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1. List all unique LICENSE values used: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   grep -h 'LICENSE = ' meta-vendor/recipes-*/*/*.bb | sort -u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2. Find recipes with LICENSE = "CLOSED":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   grep -l 'LICENSE.*CLOSED' meta-vendor/recipes-*/*/*.bb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3. Find recipes missing LIC_FILES_CHKSUM: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   for r in meta-vendor/recipes-*/*/*.bb; do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     grep -q LIC_FILES_CHKSUM $r || echo "MISSING: $r"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   done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4. Identify any third-party blobs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   find meta-vendor -name '*.bin' -o -name '*.fw'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663399"/>
                </a:solidFill>
                <a:latin typeface="Calibri"/>
              </a:rPr>
              <a:t>5. Produce a report and ask the vendor to explain anything closed-source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SBOM with create-spdx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Generate a machine-readable bill of materials at build time.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271312" y="1783080"/>
            <a:ext cx="10241280" cy="48320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Enable in 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local.conf</a:t>
            </a:r>
            <a:endParaRPr sz="1400" i="1" dirty="0">
              <a:solidFill>
                <a:srgbClr val="808080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INHERIT += "create-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spdx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"</a:t>
            </a: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Rebuild</a:t>
            </a:r>
          </a:p>
          <a:p>
            <a:pPr>
              <a:spcAft>
                <a:spcPts val="0"/>
              </a:spcAft>
            </a:pPr>
            <a:r>
              <a:rPr sz="1400" dirty="0" err="1">
                <a:solidFill>
                  <a:srgbClr val="2D2D2D"/>
                </a:solidFill>
                <a:latin typeface="Consolas"/>
              </a:rPr>
              <a:t>bitbake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core-image-base</a:t>
            </a: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Output</a:t>
            </a: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ls 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tmp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/deploy/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spdx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/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Per-recipe SPDX documents (.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spdx.json</a:t>
            </a:r>
            <a:r>
              <a:rPr sz="1400" i="1" dirty="0">
                <a:solidFill>
                  <a:srgbClr val="808080"/>
                </a:solidFill>
                <a:latin typeface="Consolas"/>
              </a:rPr>
              <a:t>)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Per-image SPDX (with all dependencies)</a:t>
            </a: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ls 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tmp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/deploy/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spdx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/x86_64-linux/core-image-base/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core-image-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base.spdx.json</a:t>
            </a:r>
            <a:r>
              <a:rPr sz="1400" i="1" dirty="0">
                <a:solidFill>
                  <a:srgbClr val="808080"/>
                </a:solidFill>
                <a:latin typeface="Consolas"/>
              </a:rPr>
              <a:t>     — the top-level document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Includes all package SPDX docs as references</a:t>
            </a: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Validate with 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spdx</a:t>
            </a:r>
            <a:r>
              <a:rPr sz="1400" i="1" dirty="0">
                <a:solidFill>
                  <a:srgbClr val="808080"/>
                </a:solidFill>
                <a:latin typeface="Consolas"/>
              </a:rPr>
              <a:t>-tools</a:t>
            </a: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pip install 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spdx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-tools</a:t>
            </a:r>
          </a:p>
          <a:p>
            <a:pPr>
              <a:spcAft>
                <a:spcPts val="0"/>
              </a:spcAft>
            </a:pPr>
            <a:r>
              <a:rPr sz="1400" dirty="0" err="1">
                <a:solidFill>
                  <a:srgbClr val="2D2D2D"/>
                </a:solidFill>
                <a:latin typeface="Consolas"/>
              </a:rPr>
              <a:t>pyspdxtools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-parser --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infile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core-image-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base.spdx.json</a:t>
            </a:r>
            <a:endParaRPr sz="14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400" dirty="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Feed to a scanner</a:t>
            </a:r>
          </a:p>
          <a:p>
            <a:pPr>
              <a:spcAft>
                <a:spcPts val="0"/>
              </a:spcAft>
            </a:pPr>
            <a:r>
              <a:rPr sz="1400" dirty="0" err="1">
                <a:solidFill>
                  <a:srgbClr val="2D2D2D"/>
                </a:solidFill>
                <a:latin typeface="Consolas"/>
              </a:rPr>
              <a:t>grype</a:t>
            </a:r>
            <a:r>
              <a:rPr sz="1400" dirty="0">
                <a:solidFill>
                  <a:srgbClr val="2D2D2D"/>
                </a:solidFill>
                <a:latin typeface="Consolas"/>
              </a:rPr>
              <a:t> </a:t>
            </a:r>
            <a:r>
              <a:rPr sz="1400" dirty="0" err="1">
                <a:solidFill>
                  <a:srgbClr val="2D2D2D"/>
                </a:solidFill>
                <a:latin typeface="Consolas"/>
              </a:rPr>
              <a:t>sbom:core-image-base.spdx.json</a:t>
            </a:r>
            <a:endParaRPr sz="1400" dirty="0">
              <a:solidFill>
                <a:srgbClr val="2D2D2D"/>
              </a:solidFill>
              <a:latin typeface="Consolas"/>
            </a:endParaRPr>
          </a:p>
          <a:p>
            <a:pPr>
              <a:spcAft>
                <a:spcPts val="0"/>
              </a:spcAft>
            </a:pPr>
            <a:r>
              <a:rPr sz="1400" i="1" dirty="0">
                <a:solidFill>
                  <a:srgbClr val="808080"/>
                </a:solidFill>
                <a:latin typeface="Consolas"/>
              </a:rPr>
              <a:t># Will show CVEs against components — comparing to </a:t>
            </a:r>
            <a:r>
              <a:rPr sz="1400" i="1" dirty="0" err="1">
                <a:solidFill>
                  <a:srgbClr val="808080"/>
                </a:solidFill>
                <a:latin typeface="Consolas"/>
              </a:rPr>
              <a:t>cve</a:t>
            </a:r>
            <a:r>
              <a:rPr sz="1400" i="1" dirty="0">
                <a:solidFill>
                  <a:srgbClr val="808080"/>
                </a:solidFill>
                <a:latin typeface="Consolas"/>
              </a:rPr>
              <a:t>-check next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What Auditors Ask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Three documents that close most audits.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License manifest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All software, all licenses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19" y="2514600"/>
            <a:ext cx="3337560" cy="276998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What: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Every package, its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version, its license</a:t>
            </a:r>
          </a:p>
          <a:p>
            <a:pPr>
              <a:spcAft>
                <a:spcPts val="400"/>
              </a:spcAft>
            </a:pPr>
            <a:endParaRPr sz="14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Yocto provides: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tmp/deploy/licenses/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&lt;image&gt;/license.manifest</a:t>
            </a:r>
          </a:p>
          <a:p>
            <a:pPr>
              <a:spcAft>
                <a:spcPts val="400"/>
              </a:spcAft>
            </a:pPr>
            <a:endParaRPr sz="14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Hand it over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as-is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7680" y="1783080"/>
            <a:ext cx="3520440" cy="640080"/>
          </a:xfrm>
          <a:prstGeom prst="rect">
            <a:avLst/>
          </a:prstGeom>
          <a:solidFill>
            <a:srgbClr val="663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SBOM (SPDX)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Machine-readable BOM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2514600"/>
            <a:ext cx="3337560" cy="276998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663399"/>
                </a:solidFill>
                <a:latin typeface="Calibri"/>
              </a:rPr>
              <a:t>What: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Standardized package list,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supplier, version, hash,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relationships</a:t>
            </a:r>
          </a:p>
          <a:p>
            <a:pPr>
              <a:spcAft>
                <a:spcPts val="400"/>
              </a:spcAft>
            </a:pPr>
            <a:endParaRPr sz="14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663399"/>
                </a:solidFill>
                <a:latin typeface="Calibri"/>
              </a:rPr>
              <a:t>Yocto provides: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tmp/deploy/spdx/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(after INHERIT += create-spdx)</a:t>
            </a:r>
          </a:p>
          <a:p>
            <a:pPr>
              <a:spcAft>
                <a:spcPts val="400"/>
              </a:spcAft>
            </a:pPr>
            <a:endParaRPr sz="14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Feeds into scanners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79" y="1783080"/>
            <a:ext cx="3520440" cy="64008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82880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CVE report</a:t>
            </a:r>
          </a:p>
          <a:p>
            <a:r>
              <a:rPr sz="1200" i="1">
                <a:solidFill>
                  <a:srgbClr val="FFFFFF"/>
                </a:solidFill>
                <a:latin typeface="Calibri"/>
              </a:rPr>
              <a:t>What's vulnerable now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423160"/>
            <a:ext cx="3520440" cy="3657600"/>
          </a:xfrm>
          <a:prstGeom prst="rect">
            <a:avLst/>
          </a:prstGeom>
          <a:solidFill>
            <a:srgbClr val="FAFAFA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19" y="2514600"/>
            <a:ext cx="3337560" cy="276998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What: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Per-package CVE list,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patched/unpatched,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justifications</a:t>
            </a:r>
          </a:p>
          <a:p>
            <a:pPr>
              <a:spcAft>
                <a:spcPts val="400"/>
              </a:spcAft>
            </a:pPr>
            <a:endParaRPr sz="14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Yocto provides: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tmp/deploy/cve/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(after INHERIT += cve-check)</a:t>
            </a:r>
          </a:p>
          <a:p>
            <a:pPr>
              <a:spcAft>
                <a:spcPts val="400"/>
              </a:spcAft>
            </a:pPr>
            <a:endParaRPr sz="1400" b="0" i="0">
              <a:solidFill>
                <a:srgbClr val="333333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333333"/>
                </a:solidFill>
                <a:latin typeface="Calibri"/>
              </a:rPr>
              <a:t>Next session covers this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663399"/>
                </a:solidFill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Use SPDX identifiers in LICENSE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Free-text 'GPL' is ambiguous; GPL-2.0-only is precise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LIC_FILES_CHKSUM catches upstream license changes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Tamper-evident; required for every recipe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INCOMPATIBLE_LICENSE enforces policy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Most embedded products exclude GPL-3 due to anti-Tivoization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License manifests are auto-generated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tmp/deploy/licenses/ — ship to auditors as-is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create-spdx generates SBOM at build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One INHERIT line; required for EU CRA, US EO 14028, many enterprise customers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tlCol="0" anchor="ctr"/>
          <a:lstStyle/>
          <a:p>
            <a:pPr algn="ctr"/>
            <a:r>
              <a:rPr sz="1400" b="1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400">
                <a:solidFill>
                  <a:srgbClr val="333333"/>
                </a:solidFill>
                <a:latin typeface="Calibri"/>
              </a:rPr>
              <a:t>CVE Triage (30 min)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601</TotalTime>
  <Words>1278</Words>
  <Application>Microsoft Office PowerPoint</Application>
  <PresentationFormat>Widescreen</PresentationFormat>
  <Paragraphs>207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Century Gothic</vt:lpstr>
      <vt:lpstr>Consolas</vt:lpstr>
      <vt:lpstr>Trebuchet MS</vt:lpstr>
      <vt:lpstr>Wingdings</vt:lpstr>
      <vt:lpstr>Office Theme</vt:lpstr>
      <vt:lpstr>License Compliance &amp; SBOM</vt:lpstr>
      <vt:lpstr>Session Agenda</vt:lpstr>
      <vt:lpstr>Why License Compliance Now</vt:lpstr>
      <vt:lpstr>SPDX Identifiers in Recipes</vt:lpstr>
      <vt:lpstr>LIC_FILES_CHKSUM — Tamper Detection</vt:lpstr>
      <vt:lpstr>INCOMPATIBLE_LICENSE — Policy</vt:lpstr>
      <vt:lpstr>License Manifests</vt:lpstr>
      <vt:lpstr>Third-Party Layer Audit</vt:lpstr>
      <vt:lpstr>SBOM with create-spdx</vt:lpstr>
      <vt:lpstr>What Auditors Ask For</vt:lpstr>
      <vt:lpstr>Session Summary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biju mk</cp:lastModifiedBy>
  <cp:revision>692</cp:revision>
  <dcterms:created xsi:type="dcterms:W3CDTF">2013-11-03T09:32:00Z</dcterms:created>
  <dcterms:modified xsi:type="dcterms:W3CDTF">2026-06-11T10:43:40Z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