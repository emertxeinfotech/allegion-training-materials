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  <p:sldId id="1015" r:id="rId10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FFFFFF"/>
                </a:solidFill>
                <a:latin typeface="Calibri"/>
              </a:rPr>
              <a:t>Linux Fundamentals </a:t>
            </a:r>
            <a:r>
              <a:rPr lang="en-IN" sz="4400" b="1" dirty="0">
                <a:solidFill>
                  <a:srgbClr val="FFFFFF"/>
                </a:solidFill>
                <a:latin typeface="Calibri"/>
              </a:rPr>
              <a:t>: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Filesystem, users,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3237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1.  Filesystem hierarchy </a:t>
            </a:r>
            <a:r>
              <a:rPr lang="en-IN" sz="2000" dirty="0">
                <a:solidFill>
                  <a:srgbClr val="333333"/>
                </a:solidFill>
                <a:latin typeface="Calibri"/>
              </a:rPr>
              <a:t>: 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where things live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2.  /proc, /sys, /dev </a:t>
            </a:r>
            <a:r>
              <a:rPr lang="en-IN" sz="200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the kernel's interfaces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3.  Users, groups, permissions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4.  Capabilities</a:t>
            </a:r>
            <a:r>
              <a:rPr lang="en-IN" sz="2000" b="0" i="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finer-grained than root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5.  Processes, signals, scheduling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6.  </a:t>
            </a:r>
            <a:r>
              <a:rPr sz="2000" b="0" i="0" dirty="0" err="1">
                <a:solidFill>
                  <a:srgbClr val="333333"/>
                </a:solidFill>
                <a:latin typeface="Calibri"/>
              </a:rPr>
              <a:t>Cgroups</a:t>
            </a:r>
            <a:r>
              <a:rPr lang="en-IN" sz="2000" dirty="0">
                <a:solidFill>
                  <a:srgbClr val="333333"/>
                </a:solidFill>
                <a:latin typeface="Calibri"/>
              </a:rPr>
              <a:t>:</a:t>
            </a:r>
            <a:r>
              <a:rPr sz="2000" b="0" i="0" dirty="0">
                <a:solidFill>
                  <a:srgbClr val="333333"/>
                </a:solidFill>
                <a:latin typeface="Calibri"/>
              </a:rPr>
              <a:t> what they are, why they matter for embedded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Filesystem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 fast tour of the directories that matter on an embedded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20624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20624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5394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/                    # root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bin/             # essential commands (often symlink to /usr/bin)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boot/            # kernel, bootloader configs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dev/             # device nodes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etc/             # configuration files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home/            # user home directories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lib/             # shared libraries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proc/            # kernel info (virtual filesystem)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root/            # root user's home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sbin/            # system binaries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sys/             # kernel objects (devices, drivers)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tmp/             # temporary files (RAM-backed on embedded)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├── usr/             # most installed software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2D2D2D"/>
                </a:solidFill>
                <a:latin typeface="Consolas"/>
              </a:rPr>
              <a:t>└── var/             # logs, runtime state, packaging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6080760"/>
            <a:ext cx="10515600" cy="32004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 dirty="0">
                <a:solidFill>
                  <a:srgbClr val="663399"/>
                </a:solidFill>
                <a:latin typeface="Calibri"/>
              </a:rPr>
              <a:t>On an embedded device, /</a:t>
            </a:r>
            <a:r>
              <a:rPr sz="1600" b="1" dirty="0" err="1">
                <a:solidFill>
                  <a:srgbClr val="663399"/>
                </a:solidFill>
                <a:latin typeface="Calibri"/>
              </a:rPr>
              <a:t>etc</a:t>
            </a:r>
            <a:r>
              <a:rPr sz="1600" b="1" dirty="0">
                <a:solidFill>
                  <a:srgbClr val="663399"/>
                </a:solidFill>
                <a:latin typeface="Calibri"/>
              </a:rPr>
              <a:t> is often read-only. State goes to /var or a separate partition.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/proc, /sys, /dev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Three virtual interfaces you will use constantly.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/proc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Process &amp; kernel info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566159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27802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Read kernel state as text:</a:t>
            </a:r>
          </a:p>
          <a:p>
            <a:pPr>
              <a:spcAft>
                <a:spcPts val="400"/>
              </a:spcAft>
            </a:pPr>
            <a:endParaRPr b="1" i="0" dirty="0">
              <a:solidFill>
                <a:srgbClr val="CC0066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/proc/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cpuinfo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CPU details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/proc/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meminfo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memory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/proc/&lt;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pid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&gt;/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per-process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/proc/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cmdline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kernel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args</a:t>
            </a: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/proc/config.gz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kernel config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Use cat, never edit directly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/sys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Device &amp; driver objects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566159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24827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663399"/>
                </a:solidFill>
                <a:latin typeface="Calibri"/>
              </a:rPr>
              <a:t>The kernel device model:</a:t>
            </a:r>
          </a:p>
          <a:p>
            <a:pPr>
              <a:spcAft>
                <a:spcPts val="400"/>
              </a:spcAft>
            </a:pPr>
            <a:endParaRPr b="1" i="0" dirty="0">
              <a:solidFill>
                <a:srgbClr val="663399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/sys/class/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leds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/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LEDs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/sys/class/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gpio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/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GPIOs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/sys/class/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tty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/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serial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/sys/firmware/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devicetree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/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DT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Some files writable to control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/dev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Device nodes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566159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24827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Files that represent devices:</a:t>
            </a:r>
          </a:p>
          <a:p>
            <a:pPr>
              <a:spcAft>
                <a:spcPts val="400"/>
              </a:spcAft>
            </a:pPr>
            <a:endParaRPr b="1" i="0" dirty="0">
              <a:solidFill>
                <a:srgbClr val="CC0066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/dev/ttyS0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serial port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/dev/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sda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disk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/dev/mmcblk0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eMMC/SD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/dev/null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sink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Created by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udev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(or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devtmpfs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Users, Groups,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The classic Unix access model — still how most security on Linux works.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32004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30469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Listing shows: type-permissions  links  user  group  size  date  name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$ ls -l 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etc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/passwd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rw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-r--r-- 1 root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root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2841 May 12 10:23 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etc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/passwd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Position 1: file type   ('-' = file, 'd' = </a:t>
            </a:r>
            <a:r>
              <a:rPr sz="1600" i="1" dirty="0" err="1">
                <a:solidFill>
                  <a:srgbClr val="808080"/>
                </a:solidFill>
                <a:latin typeface="Consolas"/>
              </a:rPr>
              <a:t>dir</a:t>
            </a:r>
            <a:r>
              <a:rPr sz="1600" i="1" dirty="0">
                <a:solidFill>
                  <a:srgbClr val="808080"/>
                </a:solidFill>
                <a:latin typeface="Consolas"/>
              </a:rPr>
              <a:t>, 'l' = </a:t>
            </a:r>
            <a:r>
              <a:rPr sz="1600" i="1" dirty="0" err="1">
                <a:solidFill>
                  <a:srgbClr val="808080"/>
                </a:solidFill>
                <a:latin typeface="Consolas"/>
              </a:rPr>
              <a:t>symlink</a:t>
            </a:r>
            <a:r>
              <a:rPr sz="1600" i="1" dirty="0">
                <a:solidFill>
                  <a:srgbClr val="808080"/>
                </a:solidFill>
                <a:latin typeface="Consolas"/>
              </a:rPr>
              <a:t>, 'c' = char dev)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Positions 2-4:  user permissions   (r/w/x)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Positions 5-7:  group permissions  (r/w/x)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Positions 8-10: others permissions (r/w/x)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Change ownership and mode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$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sudo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chown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nobody:nogroup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etc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myapp.conf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$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sudo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chmod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640 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etc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myapp.conf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     #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rw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 r-- 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66684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663399"/>
                </a:solidFill>
                <a:latin typeface="Calibri"/>
              </a:rPr>
              <a:t>Tip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On embedded products, dropping daemons to a dedicated unprivileged user is the first line of defense.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Capabilities</a:t>
            </a:r>
            <a:r>
              <a:rPr lang="en-IN" sz="3200" b="1" dirty="0">
                <a:latin typeface="Calibri"/>
              </a:rPr>
              <a:t>:</a:t>
            </a:r>
            <a:r>
              <a:rPr sz="3200" b="1" dirty="0">
                <a:latin typeface="Calibri"/>
              </a:rPr>
              <a:t> Finer Than 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Traditionally a process is root or not. Capabilities split root into ~40 distinct powers.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1148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Traditional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24263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>
                <a:solidFill>
                  <a:srgbClr val="333333"/>
                </a:solidFill>
                <a:latin typeface="Calibri"/>
              </a:rPr>
              <a:t>Process needs to bind port 80</a:t>
            </a:r>
          </a:p>
          <a:p>
            <a:pPr>
              <a:spcAft>
                <a:spcPts val="1000"/>
              </a:spcAft>
            </a:pPr>
            <a:r>
              <a:rPr b="0" i="0">
                <a:solidFill>
                  <a:srgbClr val="333333"/>
                </a:solidFill>
                <a:latin typeface="Calibri"/>
              </a:rPr>
              <a:t>Solution: run as root</a:t>
            </a:r>
          </a:p>
          <a:p>
            <a:pPr>
              <a:spcAft>
                <a:spcPts val="600"/>
              </a:spcAft>
            </a:pPr>
            <a:r>
              <a:rPr b="0" i="0">
                <a:solidFill>
                  <a:srgbClr val="333333"/>
                </a:solidFill>
                <a:latin typeface="Calibri"/>
              </a:rPr>
              <a:t>Problem: root can do everything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- read any file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- modify kernel memory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  - load modules, change network</a:t>
            </a:r>
          </a:p>
          <a:p>
            <a:pPr>
              <a:spcAft>
                <a:spcPts val="400"/>
              </a:spcAft>
            </a:pPr>
            <a:r>
              <a:rPr b="1" i="0">
                <a:solidFill>
                  <a:srgbClr val="CC0066"/>
                </a:solidFill>
                <a:latin typeface="Calibri"/>
              </a:rPr>
              <a:t>One vulnerability = full compromise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1148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With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26981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333333"/>
                </a:solidFill>
                <a:latin typeface="Calibri"/>
              </a:rPr>
              <a:t>Same need: bind port 80</a:t>
            </a:r>
          </a:p>
          <a:p>
            <a:pPr>
              <a:spcAft>
                <a:spcPts val="1000"/>
              </a:spcAft>
            </a:pPr>
            <a:r>
              <a:rPr b="0" i="0" dirty="0">
                <a:solidFill>
                  <a:srgbClr val="333333"/>
                </a:solidFill>
                <a:latin typeface="Calibri"/>
              </a:rPr>
              <a:t>Solution: grant CAP_NET_BIND_SERVICE only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333333"/>
                </a:solidFill>
                <a:latin typeface="Calibri"/>
              </a:rPr>
              <a:t>Common capabilities: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CAP_NET_BIND_SERVICE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low ports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CAP_NET_RAW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raw sockets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CAP_SYS_TIME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set clock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  CAP_DAC_OVERRIDE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bypass perms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663399"/>
                </a:solidFill>
                <a:latin typeface="Calibri"/>
              </a:rPr>
              <a:t>Compromise leaks only that one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600" b="1" dirty="0">
                <a:solidFill>
                  <a:srgbClr val="663399"/>
                </a:solidFill>
                <a:latin typeface="Calibri"/>
              </a:rPr>
              <a:t>On your products: prefer capabilities + non-root over running daemons as root.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Processes, Signals,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What runs, how it gets time, how you control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943600" cy="30572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A process is a running program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Each has a PID, parent (PPID), state, priority, memory, open files.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Signals control processes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SIGTERM (15)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polite ask to stop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SIGKILL (9)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force terminate (kernel does it; process can't catch)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SIGHUP (1) </a:t>
            </a:r>
            <a:r>
              <a:rPr lang="en-IN" sz="16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reload config (convention)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Scheduler decides who runs next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Linux default: CFS (Completely Fair Scheduler)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Real-time policies: SCHED_FIFO, SCHED_RR for time-critical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783080"/>
            <a:ext cx="4434840" cy="4297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5160" y="1783080"/>
            <a:ext cx="73152" cy="42976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1874519"/>
            <a:ext cx="4160520" cy="329320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Inspect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ps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aux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ps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ef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| grep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myapp</a:t>
            </a:r>
            <a:endParaRPr sz="1600" dirty="0">
              <a:solidFill>
                <a:srgbClr val="2D2D2D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top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Signal a process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kill -TERM &lt;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pid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&gt;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kill -KILL &lt;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pid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&gt;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kill -HUP &lt;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pid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&gt;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Scheduling policy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chrt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-f -p 50 &lt;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pid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&gt;</a:t>
            </a:r>
          </a:p>
          <a:p>
            <a:pPr>
              <a:spcAft>
                <a:spcPts val="0"/>
              </a:spcAft>
            </a:pPr>
            <a:r>
              <a:rPr sz="1600" dirty="0" err="1">
                <a:solidFill>
                  <a:srgbClr val="2D2D2D"/>
                </a:solidFill>
                <a:latin typeface="Consolas"/>
              </a:rPr>
              <a:t>ps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eo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pid,policy,cmd</a:t>
            </a:r>
            <a:endParaRPr sz="1600" dirty="0">
              <a:solidFill>
                <a:srgbClr val="2D2D2D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 err="1">
                <a:latin typeface="Calibri"/>
              </a:rPr>
              <a:t>Cgroups</a:t>
            </a:r>
            <a:r>
              <a:rPr sz="3200" b="1" dirty="0">
                <a:latin typeface="Calibri"/>
              </a:rPr>
              <a:t> </a:t>
            </a:r>
            <a:r>
              <a:rPr lang="en-IN" sz="3200" b="1" dirty="0">
                <a:latin typeface="Calibri"/>
              </a:rPr>
              <a:t>-</a:t>
            </a:r>
            <a:r>
              <a:rPr sz="3200" b="1" dirty="0">
                <a:latin typeface="Calibri"/>
              </a:rPr>
              <a:t> Why Embedded Cares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Group processes; limit and account for their resources.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949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What </a:t>
            </a:r>
            <a:r>
              <a:rPr sz="2000" b="1" i="0" dirty="0" err="1">
                <a:solidFill>
                  <a:srgbClr val="CC0066"/>
                </a:solidFill>
                <a:latin typeface="Calibri"/>
              </a:rPr>
              <a:t>cgroups</a:t>
            </a:r>
            <a:r>
              <a:rPr sz="2000" b="1" i="0" dirty="0">
                <a:solidFill>
                  <a:srgbClr val="CC0066"/>
                </a:solidFill>
                <a:latin typeface="Calibri"/>
              </a:rPr>
              <a:t> give you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Memory limits per group of processes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CPU share / weight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I/O bandwidth limits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Device whitelisting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Why this matters on embedded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A leaky app cannot OOM the whole device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Background services can't starve your foreground UI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Compliance for safety-critical systems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663399"/>
                </a:solidFill>
                <a:latin typeface="Calibri"/>
              </a:rPr>
              <a:t>Where you see them</a:t>
            </a:r>
          </a:p>
          <a:p>
            <a:pPr>
              <a:spcAft>
                <a:spcPts val="400"/>
              </a:spcAft>
            </a:pPr>
            <a:r>
              <a:rPr sz="1600" b="0" i="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uses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cgroups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under the hood for every unit. You configure via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directives (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MemoryMax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=,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CPUWeight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=,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IOWeight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=).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Filesystem hierarchy is conventional but standardized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Same layout on every Linux </a:t>
            </a:r>
            <a:r>
              <a:rPr lang="en-IN" sz="14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once you know it, you know it everywhere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 dirty="0">
                <a:solidFill>
                  <a:srgbClr val="663399"/>
                </a:solidFill>
                <a:latin typeface="Calibri"/>
              </a:rPr>
              <a:t>/proc, /sys, /dev are how </a:t>
            </a:r>
            <a:r>
              <a:rPr sz="1600" b="1" i="0" dirty="0" err="1">
                <a:solidFill>
                  <a:srgbClr val="663399"/>
                </a:solidFill>
                <a:latin typeface="Calibri"/>
              </a:rPr>
              <a:t>userspace</a:t>
            </a:r>
            <a:r>
              <a:rPr sz="1600" b="1" i="0" dirty="0">
                <a:solidFill>
                  <a:srgbClr val="663399"/>
                </a:solidFill>
                <a:latin typeface="Calibri"/>
              </a:rPr>
              <a:t> talks to the 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 dirty="0">
                <a:solidFill>
                  <a:srgbClr val="333333"/>
                </a:solidFill>
                <a:latin typeface="Calibri"/>
              </a:rPr>
              <a:t>Read state; control devices; access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Permissions and capabilities define security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Avoid running everything as root </a:t>
            </a:r>
            <a:r>
              <a:rPr lang="en-IN" sz="1400" b="0" i="0" dirty="0">
                <a:solidFill>
                  <a:srgbClr val="333333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333333"/>
                </a:solidFill>
                <a:latin typeface="Calibri"/>
              </a:rPr>
              <a:t> use capabilities for least-privilege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Processes are controlled via signals, scheduled by the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SIGTERM, SIGKILL, SIGHUP cover 90% of process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Cgroups give resource isolation per group of processes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Used implicitly by systemd; essential for predictable embedded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Linux Fundamentals </a:t>
            </a:r>
            <a:r>
              <a:rPr lang="en-IN" sz="1400">
                <a:solidFill>
                  <a:srgbClr val="333333"/>
                </a:solidFill>
                <a:latin typeface="Calibri"/>
              </a:rPr>
              <a:t>-</a:t>
            </a:r>
            <a:r>
              <a:rPr sz="1400">
                <a:solidFill>
                  <a:srgbClr val="333333"/>
                </a:solidFill>
                <a:latin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Part 2 </a:t>
            </a:r>
            <a:r>
              <a:rPr lang="en-IN" sz="1400" dirty="0">
                <a:solidFill>
                  <a:srgbClr val="333333"/>
                </a:solidFill>
                <a:latin typeface="Calibri"/>
              </a:rPr>
              <a:t>-</a:t>
            </a:r>
            <a:r>
              <a:rPr sz="1400" dirty="0">
                <a:solidFill>
                  <a:srgbClr val="333333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systemd</a:t>
            </a:r>
            <a:r>
              <a:rPr sz="1400" dirty="0">
                <a:solidFill>
                  <a:srgbClr val="333333"/>
                </a:solidFill>
                <a:latin typeface="Calibri"/>
              </a:rPr>
              <a:t>, networking, troubleshooting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1082</Words>
  <Application>Microsoft Office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Linux Fundamentals : Part 1</vt:lpstr>
      <vt:lpstr>Session Agenda</vt:lpstr>
      <vt:lpstr>Filesystem Hierarchy</vt:lpstr>
      <vt:lpstr>/proc, /sys, /dev</vt:lpstr>
      <vt:lpstr>Users, Groups, Permissions</vt:lpstr>
      <vt:lpstr>Capabilities: Finer Than Root</vt:lpstr>
      <vt:lpstr>Processes, Signals, Scheduling</vt:lpstr>
      <vt:lpstr>Cgroups - Why Embedded Cares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696</cp:revision>
  <dcterms:created xsi:type="dcterms:W3CDTF">2013-11-03T09:32:00Z</dcterms:created>
  <dcterms:modified xsi:type="dcterms:W3CDTF">2026-06-08T13:54:09Z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